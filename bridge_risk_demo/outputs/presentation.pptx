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this presentation on composite risk scoring of bridge infrastructure. This work applies a transparent, reproducible risk framework to the complete 2025 Texas National Bridge Inventory dataset, encompassing nearly 57,000 structures. The motivation is straightforward: bridge agencies need to prioritise inspections and capital investment, but current condition ratings alone do not capture exposure to age-related deterioration or traffic loading. We propose a weighted composite score that combines these three factors into a single metric, and we demonstrate its application at the state scale using entirely open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American Society of Civil Engineers gives U.S. bridge infrastructure a C grade. Nationally, 42 percent of all bridges are over 50 years old — exceeding the typical design life assumed during original construction. Texas carries the largest bridge inventory of any state, with nearly 57,000 structures. The challenge is not just volume: annual state budgets for bridge maintenance and rehabilitation consistently fall short of estimated needs. What is missing is a transparent, data-driven framework that combines structural condition with age-based deterioration risk and traffic exposure into a single prioritisation metric. That is the gap this work addresses.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central research question asks which bridges should be prioritised for inspection or intervention when we move beyond simple condition ratings and incorporate age-based deterioration and traffic loading. The three sub-questions structure the analysis: first, we examine the overall distribution of composite risk scores across the inventory; second, we map the geographic concentration of high-risk structures; third, we investigate whether age reliably predicts condition, or whether the relationship is more complex. A key design goal is full reproducibility — the analysis uses only publicly available NBI data and open-source tools, so any researcher can replicate and extend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comes from the FHWA National Bridge Inventory, which is publicly available and updated annually. The 2025 Texas file contains 56,951 records with 123 columns each. For this analysis, we use 12 key columns: structural condition ratings for deck, superstructure, substructure, and culvert components; average daily traffic; year built; geographic coordinates; and county codes. Importantly, all analysis columns are 100 percent populated — no records were removed during cleaning. This is a significant advantage of the NBI: it is one of the most complete infrastructure datasets available for research.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composite risk score combines three sub-scores, each normalised to the zero-to-one range. Condition risk inverts the NBI rating scale so that lower condition produces higher risk. Age risk scales linearly with bridge age relative to a 50-year design life and is capped at one to avoid unbounded scores for the oldest structures. Traffic risk uses a log-one-plus transformation because average daily traffic spans five orders of magnitude — from zero to over 800,000. The weighting assigns 30 percent each to condition and age, with traffic receiving the highest weight at 40 percent to emphasise public safety consequence. The four tier labels provide an intuitive classification for engineering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risk map reveals a pronounced east-to-west gradient. The highest-risk structures are concentrated in eastern Texas, roughly east of the I-35 corridor, spanning the Piney Woods and Gulf Coast regions. These areas contain the state's oldest road networks, many built during the 1930s through 1960s federal highway expansion. Rural farm-to-market road bridges in counties such as Polk, Houston, and Limestone show particularly high risk. The western half of the state is predominantly lower risk, reflecting its sparser and newer infrastructure. Metro insets show that even within cities, legacy interstate segments from the 1950s appear as high-risk clusters.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encodes three variables simultaneously: age on the horizontal axis, minimum condition rating on the vertical axis, and composite risk score as point colour. The key finding is counterintuitive: age does not strongly predict condition. Nearly 44 percent of bridges have exceeded their 50-year design life, but only 1.5 percent of those aged structures are rated Poor. The dense clustering at ratings 6 and 7, even for bridges over 80 years old, suggests that sustained maintenance and rehabilitation programmes have been effective at preserving condition. However, this also means these bridges remain in the latent risk zone — acceptable today, but potentially vulnerable if maintenance budgets decline.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risk distribution is right-skewed, with a pronounced spike near the Critical threshold of 0.75. Over 20,000 bridges, 35.8 percent of the inventory, score in the Critical tier. The median of 0.68 exceeds the mean of 0.60, confirming the left skew. The county analysis shows that all top-20 counties exceed the statewide mean, with mean risk scores ranging from 0.72 to 0.77. These are predominantly rural counties with older bridge stocks and lower maintenance investment per structure. The county chart filters to counties with at least 50 bridges to avoid small-sample artifacts.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key discussion points emerge. First, relying solely on FHWA condition ratings dramatically underestimates risk exposure: only 1.2 percent of bridges are rated Poor, but nearly 67 percent score High or Critical when age and traffic are included. Second, the composite framework provides a defensible basis for capital allocation across a very large portfolio. Third, the entire analysis is built on publicly available data and open-source code, making it fully replicable. Fourth, the strong east-west geographic gradient suggests that regionally targeted programmes could yield outsized returns. The main limitation is that this is a single-year snapshot; year-over-year trend analysis would be needed to validate deterioration projections.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the composite risk framework reveals that the scale of structural risk in the Texas bridge inventory is substantially larger than condition ratings alone suggest. Two-thirds of the inventory warrants attention when age and traffic are factored in. The geographic concentration in East Texas and on specific interstate corridors provides actionable targeting information for asset managers. The most important next step is longitudinal validation: do the bridges we flag as high risk actually deteriorate faster? Linking NBI rating histories to TxDOT maintenance expenditure records would answer this question and strengthen the framework for operational use. Thank you. The code and data are publicly available for replication.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914400" y="1371600"/>
            <a:ext cx="10332720" cy="1371600"/>
          </a:xfrm>
          <a:prstGeom prst="rect">
            <a:avLst/>
          </a:prstGeom>
          <a:noFill/>
        </p:spPr>
        <p:txBody>
          <a:bodyPr wrap="square">
            <a:spAutoFit/>
          </a:bodyPr>
          <a:lstStyle/>
          <a:p>
            <a:pPr algn="l">
              <a:defRPr sz="3800" b="1">
                <a:solidFill>
                  <a:srgbClr val="FFFFFF"/>
                </a:solidFill>
                <a:latin typeface="Calibri"/>
              </a:defRPr>
            </a:pPr>
            <a:r>
              <a:t>Composite Risk Scoring of Bridge Infrastructure</a:t>
            </a:r>
          </a:p>
        </p:txBody>
      </p:sp>
      <p:sp>
        <p:nvSpPr>
          <p:cNvPr id="3" name="TextBox 2"/>
          <p:cNvSpPr txBox="1"/>
          <p:nvPr/>
        </p:nvSpPr>
        <p:spPr>
          <a:xfrm>
            <a:off x="914400" y="2743200"/>
            <a:ext cx="10332720" cy="914400"/>
          </a:xfrm>
          <a:prstGeom prst="rect">
            <a:avLst/>
          </a:prstGeom>
          <a:noFill/>
        </p:spPr>
        <p:txBody>
          <a:bodyPr wrap="square">
            <a:spAutoFit/>
          </a:bodyPr>
          <a:lstStyle/>
          <a:p>
            <a:pPr algn="l">
              <a:defRPr sz="2200" b="0">
                <a:solidFill>
                  <a:srgbClr val="B0CCE6"/>
                </a:solidFill>
                <a:latin typeface="Calibri"/>
              </a:defRPr>
            </a:pPr>
            <a:r>
              <a:t>A Data-Driven Analysis of 56,951 Texas Structures</a:t>
            </a:r>
            <a:br/>
            <a:r>
              <a:t>Using the FHWA National Bridge Inventory</a:t>
            </a:r>
          </a:p>
        </p:txBody>
      </p:sp>
      <p:sp>
        <p:nvSpPr>
          <p:cNvPr id="4" name="TextBox 3"/>
          <p:cNvSpPr txBox="1"/>
          <p:nvPr/>
        </p:nvSpPr>
        <p:spPr>
          <a:xfrm>
            <a:off x="914400" y="4389120"/>
            <a:ext cx="10332720" cy="548640"/>
          </a:xfrm>
          <a:prstGeom prst="rect">
            <a:avLst/>
          </a:prstGeom>
          <a:noFill/>
        </p:spPr>
        <p:txBody>
          <a:bodyPr wrap="square">
            <a:spAutoFit/>
          </a:bodyPr>
          <a:lstStyle/>
          <a:p>
            <a:pPr algn="l">
              <a:defRPr sz="2000" b="1">
                <a:solidFill>
                  <a:srgbClr val="FFFFFF"/>
                </a:solidFill>
                <a:latin typeface="Calibri"/>
              </a:defRPr>
            </a:pPr>
            <a:r>
              <a:t>David Dempsey</a:t>
            </a:r>
          </a:p>
        </p:txBody>
      </p:sp>
      <p:sp>
        <p:nvSpPr>
          <p:cNvPr id="5" name="TextBox 4"/>
          <p:cNvSpPr txBox="1"/>
          <p:nvPr/>
        </p:nvSpPr>
        <p:spPr>
          <a:xfrm>
            <a:off x="914400" y="4846320"/>
            <a:ext cx="10332720" cy="457200"/>
          </a:xfrm>
          <a:prstGeom prst="rect">
            <a:avLst/>
          </a:prstGeom>
          <a:noFill/>
        </p:spPr>
        <p:txBody>
          <a:bodyPr wrap="square">
            <a:spAutoFit/>
          </a:bodyPr>
          <a:lstStyle/>
          <a:p>
            <a:pPr algn="l">
              <a:defRPr sz="1600" b="0">
                <a:solidFill>
                  <a:srgbClr val="B0CCE6"/>
                </a:solidFill>
                <a:latin typeface="Calibri"/>
              </a:defRPr>
            </a:pPr>
            <a:r>
              <a:t>University of Canterbury</a:t>
            </a:r>
          </a:p>
        </p:txBody>
      </p:sp>
      <p:sp>
        <p:nvSpPr>
          <p:cNvPr id="6" name="Rectangle 5"/>
          <p:cNvSpPr/>
          <p:nvPr/>
        </p:nvSpPr>
        <p:spPr>
          <a:xfrm>
            <a:off x="0" y="6126480"/>
            <a:ext cx="12191695" cy="731520"/>
          </a:xfrm>
          <a:prstGeom prst="rect">
            <a:avLst/>
          </a:prstGeom>
          <a:solidFill>
            <a:srgbClr val="14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6199632"/>
            <a:ext cx="10332720" cy="457200"/>
          </a:xfrm>
          <a:prstGeom prst="rect">
            <a:avLst/>
          </a:prstGeom>
          <a:noFill/>
        </p:spPr>
        <p:txBody>
          <a:bodyPr wrap="square">
            <a:spAutoFit/>
          </a:bodyPr>
          <a:lstStyle/>
          <a:p>
            <a:pPr algn="l">
              <a:defRPr sz="1400" b="0">
                <a:solidFill>
                  <a:srgbClr val="90AACC"/>
                </a:solidFill>
                <a:latin typeface="Calibri"/>
              </a:defRPr>
            </a:pPr>
            <a:r>
              <a:t>Data Analysis Workshop  |  2025  |  Civil &amp; Natural Resources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Problem Statement</a:t>
            </a:r>
          </a:p>
        </p:txBody>
      </p:sp>
      <p:sp>
        <p:nvSpPr>
          <p:cNvPr id="4" name="TextBox 3"/>
          <p:cNvSpPr txBox="1"/>
          <p:nvPr/>
        </p:nvSpPr>
        <p:spPr>
          <a:xfrm>
            <a:off x="731520" y="1463040"/>
            <a:ext cx="10515600" cy="4114800"/>
          </a:xfrm>
          <a:prstGeom prst="rect">
            <a:avLst/>
          </a:prstGeom>
          <a:noFill/>
        </p:spPr>
        <p:txBody>
          <a:bodyPr wrap="square">
            <a:spAutoFit/>
          </a:bodyPr>
          <a:lstStyle/>
          <a:p>
            <a:pPr>
              <a:spcAft>
                <a:spcPts val="2000"/>
              </a:spcAft>
              <a:defRPr sz="2200" b="0">
                <a:solidFill>
                  <a:srgbClr val="333333"/>
                </a:solidFill>
                <a:latin typeface="Calibri"/>
              </a:defRPr>
            </a:pPr>
            <a:r>
              <a:t>42% of U.S. bridges are over 50 years old; 7.5% are structurally deficient (ASCE, 2021)</a:t>
            </a:r>
          </a:p>
          <a:p>
            <a:pPr>
              <a:spcAft>
                <a:spcPts val="2000"/>
              </a:spcAft>
              <a:defRPr sz="2200" b="0">
                <a:solidFill>
                  <a:srgbClr val="333333"/>
                </a:solidFill>
                <a:latin typeface="Calibri"/>
              </a:defRPr>
            </a:pPr>
            <a:r>
              <a:t>Texas maintains 56,951 NBI structures — the largest state inventory in the U.S.</a:t>
            </a:r>
          </a:p>
          <a:p>
            <a:pPr>
              <a:spcAft>
                <a:spcPts val="2000"/>
              </a:spcAft>
              <a:defRPr sz="2200" b="0">
                <a:solidFill>
                  <a:srgbClr val="333333"/>
                </a:solidFill>
                <a:latin typeface="Calibri"/>
              </a:defRPr>
            </a:pPr>
            <a:r>
              <a:t>Annual maintenance budgets cover less than 40% of estimated rehabilitation needs</a:t>
            </a:r>
          </a:p>
          <a:p>
            <a:pPr>
              <a:spcAft>
                <a:spcPts val="2000"/>
              </a:spcAft>
              <a:defRPr sz="2200" b="0">
                <a:solidFill>
                  <a:srgbClr val="333333"/>
                </a:solidFill>
                <a:latin typeface="Calibri"/>
              </a:defRPr>
            </a:pPr>
            <a:r>
              <a:t>No standardised, reproducible framework integrates condition, age, and traffic risk</a:t>
            </a:r>
          </a:p>
        </p:txBody>
      </p:sp>
      <p:sp>
        <p:nvSpPr>
          <p:cNvPr id="5" name="TextBox 4"/>
          <p:cNvSpPr txBox="1"/>
          <p:nvPr/>
        </p:nvSpPr>
        <p:spPr>
          <a:xfrm>
            <a:off x="731520" y="5303520"/>
            <a:ext cx="10515600" cy="731520"/>
          </a:xfrm>
          <a:prstGeom prst="rect">
            <a:avLst/>
          </a:prstGeom>
          <a:noFill/>
        </p:spPr>
        <p:txBody>
          <a:bodyPr wrap="square">
            <a:spAutoFit/>
          </a:bodyPr>
          <a:lstStyle/>
          <a:p>
            <a:pPr algn="l">
              <a:defRPr sz="1200" b="0">
                <a:solidFill>
                  <a:srgbClr val="666666"/>
                </a:solidFill>
                <a:latin typeface="Calibri"/>
              </a:defRPr>
            </a:pPr>
            <a:r>
              <a:t>Source: ASCE 2021 Infrastructure Report Card; FHWA NBI 2025; TxDOT budget reports</a:t>
            </a:r>
          </a:p>
        </p:txBody>
      </p:sp>
      <p:sp>
        <p:nvSpPr>
          <p:cNvPr id="6" name="TextBox 5"/>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Research Question</a:t>
            </a:r>
          </a:p>
        </p:txBody>
      </p:sp>
      <p:sp>
        <p:nvSpPr>
          <p:cNvPr id="4" name="TextBox 3"/>
          <p:cNvSpPr txBox="1"/>
          <p:nvPr/>
        </p:nvSpPr>
        <p:spPr>
          <a:xfrm>
            <a:off x="914400" y="1645920"/>
            <a:ext cx="10332720" cy="1371600"/>
          </a:xfrm>
          <a:prstGeom prst="rect">
            <a:avLst/>
          </a:prstGeom>
          <a:noFill/>
        </p:spPr>
        <p:txBody>
          <a:bodyPr wrap="square">
            <a:spAutoFit/>
          </a:bodyPr>
          <a:lstStyle/>
          <a:p>
            <a:pPr algn="l">
              <a:defRPr sz="2800" b="1">
                <a:solidFill>
                  <a:srgbClr val="1B3A5C"/>
                </a:solidFill>
                <a:latin typeface="Calibri"/>
              </a:defRPr>
            </a:pPr>
            <a:r>
              <a:t>Which Texas bridges pose the greatest structural risk when accounting for physical condition, age beyond design life, and traffic exposure?</a:t>
            </a:r>
          </a:p>
        </p:txBody>
      </p:sp>
      <p:sp>
        <p:nvSpPr>
          <p:cNvPr id="5" name="TextBox 4"/>
          <p:cNvSpPr txBox="1"/>
          <p:nvPr/>
        </p:nvSpPr>
        <p:spPr>
          <a:xfrm>
            <a:off x="1097280" y="3474720"/>
            <a:ext cx="10058400" cy="2286000"/>
          </a:xfrm>
          <a:prstGeom prst="rect">
            <a:avLst/>
          </a:prstGeom>
          <a:noFill/>
        </p:spPr>
        <p:txBody>
          <a:bodyPr wrap="square">
            <a:spAutoFit/>
          </a:bodyPr>
          <a:lstStyle/>
          <a:p>
            <a:pPr>
              <a:spcAft>
                <a:spcPts val="1600"/>
              </a:spcAft>
              <a:defRPr sz="2000" b="0">
                <a:solidFill>
                  <a:srgbClr val="333333"/>
                </a:solidFill>
                <a:latin typeface="Calibri"/>
              </a:defRPr>
            </a:pPr>
            <a:r>
              <a:t>1.  How does a composite risk score distribute across 56,951 structures?</a:t>
            </a:r>
          </a:p>
          <a:p>
            <a:pPr>
              <a:spcAft>
                <a:spcPts val="1600"/>
              </a:spcAft>
              <a:defRPr sz="2000" b="0">
                <a:solidFill>
                  <a:srgbClr val="333333"/>
                </a:solidFill>
                <a:latin typeface="Calibri"/>
              </a:defRPr>
            </a:pPr>
            <a:r>
              <a:t>2.  Where are the highest-risk bridges geographically concentrated?</a:t>
            </a:r>
          </a:p>
          <a:p>
            <a:pPr>
              <a:spcAft>
                <a:spcPts val="1600"/>
              </a:spcAft>
              <a:defRPr sz="2000" b="0">
                <a:solidFill>
                  <a:srgbClr val="333333"/>
                </a:solidFill>
                <a:latin typeface="Calibri"/>
              </a:defRPr>
            </a:pPr>
            <a:r>
              <a:t>3.  What is the relationship between bridge age and current condition?</a:t>
            </a:r>
          </a:p>
        </p:txBody>
      </p:sp>
      <p:sp>
        <p:nvSpPr>
          <p:cNvPr id="6" name="TextBox 5"/>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Data</a:t>
            </a:r>
          </a:p>
        </p:txBody>
      </p:sp>
      <p:sp>
        <p:nvSpPr>
          <p:cNvPr id="4" name="TextBox 3"/>
          <p:cNvSpPr txBox="1"/>
          <p:nvPr/>
        </p:nvSpPr>
        <p:spPr>
          <a:xfrm>
            <a:off x="731520" y="1371600"/>
            <a:ext cx="5486400" cy="3200400"/>
          </a:xfrm>
          <a:prstGeom prst="rect">
            <a:avLst/>
          </a:prstGeom>
          <a:noFill/>
        </p:spPr>
        <p:txBody>
          <a:bodyPr wrap="square">
            <a:spAutoFit/>
          </a:bodyPr>
          <a:lstStyle/>
          <a:p>
            <a:pPr>
              <a:spcAft>
                <a:spcPts val="1200"/>
              </a:spcAft>
              <a:defRPr sz="1800" b="0">
                <a:solidFill>
                  <a:srgbClr val="333333"/>
                </a:solidFill>
                <a:latin typeface="Calibri"/>
              </a:defRPr>
            </a:pPr>
            <a:r>
              <a:t>Source: FHWA National Bridge Inventory, 2025 release</a:t>
            </a:r>
          </a:p>
          <a:p>
            <a:pPr>
              <a:spcAft>
                <a:spcPts val="1200"/>
              </a:spcAft>
              <a:defRPr sz="1800" b="0">
                <a:solidFill>
                  <a:srgbClr val="333333"/>
                </a:solidFill>
                <a:latin typeface="Calibri"/>
              </a:defRPr>
            </a:pPr>
            <a:r>
              <a:t>Scope: Texas (state code 48) — 56,951 structures</a:t>
            </a:r>
          </a:p>
          <a:p>
            <a:pPr>
              <a:spcAft>
                <a:spcPts val="1200"/>
              </a:spcAft>
              <a:defRPr sz="1800" b="0">
                <a:solidFill>
                  <a:srgbClr val="333333"/>
                </a:solidFill>
                <a:latin typeface="Calibri"/>
              </a:defRPr>
            </a:pPr>
            <a:r>
              <a:t>Format: 123 columns per record; comma-delimited CSV</a:t>
            </a:r>
          </a:p>
          <a:p>
            <a:pPr>
              <a:spcAft>
                <a:spcPts val="1200"/>
              </a:spcAft>
              <a:defRPr sz="1800" b="0">
                <a:solidFill>
                  <a:srgbClr val="333333"/>
                </a:solidFill>
                <a:latin typeface="Calibri"/>
              </a:defRPr>
            </a:pPr>
            <a:r>
              <a:t>Key variables: condition ratings, age, traffic, coordinates</a:t>
            </a:r>
          </a:p>
          <a:p>
            <a:pPr>
              <a:spcAft>
                <a:spcPts val="1200"/>
              </a:spcAft>
              <a:defRPr sz="1800" b="0">
                <a:solidFill>
                  <a:srgbClr val="333333"/>
                </a:solidFill>
                <a:latin typeface="Calibri"/>
              </a:defRPr>
            </a:pPr>
            <a:r>
              <a:t>Completeness: all analysis columns 100% populated; zero records removed</a:t>
            </a:r>
          </a:p>
        </p:txBody>
      </p:sp>
      <p:graphicFrame>
        <p:nvGraphicFramePr>
          <p:cNvPr id="5" name="Table 4"/>
          <p:cNvGraphicFramePr>
            <a:graphicFrameLocks noGrp="1"/>
          </p:cNvGraphicFramePr>
          <p:nvPr/>
        </p:nvGraphicFramePr>
        <p:xfrm>
          <a:off x="6583680" y="1371600"/>
          <a:ext cx="5303520" cy="2926080"/>
        </p:xfrm>
        <a:graphic>
          <a:graphicData uri="http://schemas.openxmlformats.org/drawingml/2006/table">
            <a:tbl>
              <a:tblPr firstRow="1" bandRow="1">
                <a:tableStyleId>{5C22544A-7EE6-4342-B048-85BDC9FD1C3A}</a:tableStyleId>
              </a:tblPr>
              <a:tblGrid>
                <a:gridCol w="2377440"/>
                <a:gridCol w="1737360"/>
                <a:gridCol w="1188720"/>
              </a:tblGrid>
              <a:tr h="487680">
                <a:tc>
                  <a:txBody>
                    <a:bodyPr/>
                    <a:lstStyle/>
                    <a:p>
                      <a:pPr>
                        <a:defRPr sz="1300" b="1">
                          <a:solidFill>
                            <a:srgbClr val="FFFFFF"/>
                          </a:solidFill>
                          <a:latin typeface="Calibri"/>
                        </a:defRPr>
                      </a:pPr>
                      <a:r>
                        <a:t>NBI Column</a:t>
                      </a:r>
                    </a:p>
                  </a:txBody>
                  <a:tcPr anchor="ctr">
                    <a:solidFill>
                      <a:srgbClr val="1B3A5C"/>
                    </a:solidFill>
                  </a:tcPr>
                </a:tc>
                <a:tc>
                  <a:txBody>
                    <a:bodyPr/>
                    <a:lstStyle/>
                    <a:p>
                      <a:pPr>
                        <a:defRPr sz="1300" b="1">
                          <a:solidFill>
                            <a:srgbClr val="FFFFFF"/>
                          </a:solidFill>
                          <a:latin typeface="Calibri"/>
                        </a:defRPr>
                      </a:pPr>
                      <a:r>
                        <a:t>Description</a:t>
                      </a:r>
                    </a:p>
                  </a:txBody>
                  <a:tcPr anchor="ctr">
                    <a:solidFill>
                      <a:srgbClr val="1B3A5C"/>
                    </a:solidFill>
                  </a:tcPr>
                </a:tc>
                <a:tc>
                  <a:txBody>
                    <a:bodyPr/>
                    <a:lstStyle/>
                    <a:p>
                      <a:pPr>
                        <a:defRPr sz="1300" b="1">
                          <a:solidFill>
                            <a:srgbClr val="FFFFFF"/>
                          </a:solidFill>
                          <a:latin typeface="Calibri"/>
                        </a:defRPr>
                      </a:pPr>
                      <a:r>
                        <a:t>Values</a:t>
                      </a:r>
                    </a:p>
                  </a:txBody>
                  <a:tcPr anchor="ctr">
                    <a:solidFill>
                      <a:srgbClr val="1B3A5C"/>
                    </a:solidFill>
                  </a:tcPr>
                </a:tc>
              </a:tr>
              <a:tr h="487680">
                <a:tc>
                  <a:txBody>
                    <a:bodyPr/>
                    <a:lstStyle/>
                    <a:p>
                      <a:pPr>
                        <a:defRPr sz="1300">
                          <a:solidFill>
                            <a:srgbClr val="333333"/>
                          </a:solidFill>
                          <a:latin typeface="Calibri"/>
                        </a:defRPr>
                      </a:pPr>
                      <a:r>
                        <a:t>DECK_COND_058</a:t>
                      </a:r>
                    </a:p>
                  </a:txBody>
                  <a:tcPr anchor="ctr"/>
                </a:tc>
                <a:tc>
                  <a:txBody>
                    <a:bodyPr/>
                    <a:lstStyle/>
                    <a:p>
                      <a:pPr>
                        <a:defRPr sz="1300">
                          <a:solidFill>
                            <a:srgbClr val="333333"/>
                          </a:solidFill>
                          <a:latin typeface="Calibri"/>
                        </a:defRPr>
                      </a:pPr>
                      <a:r>
                        <a:t>Deck condition rating</a:t>
                      </a:r>
                    </a:p>
                  </a:txBody>
                  <a:tcPr anchor="ctr"/>
                </a:tc>
                <a:tc>
                  <a:txBody>
                    <a:bodyPr/>
                    <a:lstStyle/>
                    <a:p>
                      <a:pPr>
                        <a:defRPr sz="1300">
                          <a:solidFill>
                            <a:srgbClr val="333333"/>
                          </a:solidFill>
                          <a:latin typeface="Calibri"/>
                        </a:defRPr>
                      </a:pPr>
                      <a:r>
                        <a:t>0–9 (9 = excellent)</a:t>
                      </a:r>
                    </a:p>
                  </a:txBody>
                  <a:tcPr anchor="ctr"/>
                </a:tc>
              </a:tr>
              <a:tr h="487680">
                <a:tc>
                  <a:txBody>
                    <a:bodyPr/>
                    <a:lstStyle/>
                    <a:p>
                      <a:pPr>
                        <a:defRPr sz="1300">
                          <a:solidFill>
                            <a:srgbClr val="333333"/>
                          </a:solidFill>
                          <a:latin typeface="Calibri"/>
                        </a:defRPr>
                      </a:pPr>
                      <a:r>
                        <a:t>SUPERSTRUCTURE_COND_059</a:t>
                      </a:r>
                    </a:p>
                  </a:txBody>
                  <a:tcPr anchor="ctr">
                    <a:solidFill>
                      <a:srgbClr val="E8EEF4"/>
                    </a:solidFill>
                  </a:tcPr>
                </a:tc>
                <a:tc>
                  <a:txBody>
                    <a:bodyPr/>
                    <a:lstStyle/>
                    <a:p>
                      <a:pPr>
                        <a:defRPr sz="1300">
                          <a:solidFill>
                            <a:srgbClr val="333333"/>
                          </a:solidFill>
                          <a:latin typeface="Calibri"/>
                        </a:defRPr>
                      </a:pPr>
                      <a:r>
                        <a:t>Superstructure rating</a:t>
                      </a:r>
                    </a:p>
                  </a:txBody>
                  <a:tcPr anchor="ctr">
                    <a:solidFill>
                      <a:srgbClr val="E8EEF4"/>
                    </a:solidFill>
                  </a:tcPr>
                </a:tc>
                <a:tc>
                  <a:txBody>
                    <a:bodyPr/>
                    <a:lstStyle/>
                    <a:p>
                      <a:pPr>
                        <a:defRPr sz="1300">
                          <a:solidFill>
                            <a:srgbClr val="333333"/>
                          </a:solidFill>
                          <a:latin typeface="Calibri"/>
                        </a:defRPr>
                      </a:pPr>
                      <a:r>
                        <a:t>0–9</a:t>
                      </a:r>
                    </a:p>
                  </a:txBody>
                  <a:tcPr anchor="ctr">
                    <a:solidFill>
                      <a:srgbClr val="E8EEF4"/>
                    </a:solidFill>
                  </a:tcPr>
                </a:tc>
              </a:tr>
              <a:tr h="487680">
                <a:tc>
                  <a:txBody>
                    <a:bodyPr/>
                    <a:lstStyle/>
                    <a:p>
                      <a:pPr>
                        <a:defRPr sz="1300">
                          <a:solidFill>
                            <a:srgbClr val="333333"/>
                          </a:solidFill>
                          <a:latin typeface="Calibri"/>
                        </a:defRPr>
                      </a:pPr>
                      <a:r>
                        <a:t>SUBSTRUCTURE_COND_060</a:t>
                      </a:r>
                    </a:p>
                  </a:txBody>
                  <a:tcPr anchor="ctr"/>
                </a:tc>
                <a:tc>
                  <a:txBody>
                    <a:bodyPr/>
                    <a:lstStyle/>
                    <a:p>
                      <a:pPr>
                        <a:defRPr sz="1300">
                          <a:solidFill>
                            <a:srgbClr val="333333"/>
                          </a:solidFill>
                          <a:latin typeface="Calibri"/>
                        </a:defRPr>
                      </a:pPr>
                      <a:r>
                        <a:t>Substructure rating</a:t>
                      </a:r>
                    </a:p>
                  </a:txBody>
                  <a:tcPr anchor="ctr"/>
                </a:tc>
                <a:tc>
                  <a:txBody>
                    <a:bodyPr/>
                    <a:lstStyle/>
                    <a:p>
                      <a:pPr>
                        <a:defRPr sz="1300">
                          <a:solidFill>
                            <a:srgbClr val="333333"/>
                          </a:solidFill>
                          <a:latin typeface="Calibri"/>
                        </a:defRPr>
                      </a:pPr>
                      <a:r>
                        <a:t>0–9</a:t>
                      </a:r>
                    </a:p>
                  </a:txBody>
                  <a:tcPr anchor="ctr"/>
                </a:tc>
              </a:tr>
              <a:tr h="487680">
                <a:tc>
                  <a:txBody>
                    <a:bodyPr/>
                    <a:lstStyle/>
                    <a:p>
                      <a:pPr>
                        <a:defRPr sz="1300">
                          <a:solidFill>
                            <a:srgbClr val="333333"/>
                          </a:solidFill>
                          <a:latin typeface="Calibri"/>
                        </a:defRPr>
                      </a:pPr>
                      <a:r>
                        <a:t>ADT_029</a:t>
                      </a:r>
                    </a:p>
                  </a:txBody>
                  <a:tcPr anchor="ctr">
                    <a:solidFill>
                      <a:srgbClr val="E8EEF4"/>
                    </a:solidFill>
                  </a:tcPr>
                </a:tc>
                <a:tc>
                  <a:txBody>
                    <a:bodyPr/>
                    <a:lstStyle/>
                    <a:p>
                      <a:pPr>
                        <a:defRPr sz="1300">
                          <a:solidFill>
                            <a:srgbClr val="333333"/>
                          </a:solidFill>
                          <a:latin typeface="Calibri"/>
                        </a:defRPr>
                      </a:pPr>
                      <a:r>
                        <a:t>Average daily traffic</a:t>
                      </a:r>
                    </a:p>
                  </a:txBody>
                  <a:tcPr anchor="ctr">
                    <a:solidFill>
                      <a:srgbClr val="E8EEF4"/>
                    </a:solidFill>
                  </a:tcPr>
                </a:tc>
                <a:tc>
                  <a:txBody>
                    <a:bodyPr/>
                    <a:lstStyle/>
                    <a:p>
                      <a:pPr>
                        <a:defRPr sz="1300">
                          <a:solidFill>
                            <a:srgbClr val="333333"/>
                          </a:solidFill>
                          <a:latin typeface="Calibri"/>
                        </a:defRPr>
                      </a:pPr>
                      <a:r>
                        <a:t>0–810,110</a:t>
                      </a:r>
                    </a:p>
                  </a:txBody>
                  <a:tcPr anchor="ctr">
                    <a:solidFill>
                      <a:srgbClr val="E8EEF4"/>
                    </a:solidFill>
                  </a:tcPr>
                </a:tc>
              </a:tr>
              <a:tr h="487680">
                <a:tc>
                  <a:txBody>
                    <a:bodyPr/>
                    <a:lstStyle/>
                    <a:p>
                      <a:pPr>
                        <a:defRPr sz="1300">
                          <a:solidFill>
                            <a:srgbClr val="333333"/>
                          </a:solidFill>
                          <a:latin typeface="Calibri"/>
                        </a:defRPr>
                      </a:pPr>
                      <a:r>
                        <a:t>YEAR_BUILT_027</a:t>
                      </a:r>
                    </a:p>
                  </a:txBody>
                  <a:tcPr anchor="ctr"/>
                </a:tc>
                <a:tc>
                  <a:txBody>
                    <a:bodyPr/>
                    <a:lstStyle/>
                    <a:p>
                      <a:pPr>
                        <a:defRPr sz="1300">
                          <a:solidFill>
                            <a:srgbClr val="333333"/>
                          </a:solidFill>
                          <a:latin typeface="Calibri"/>
                        </a:defRPr>
                      </a:pPr>
                      <a:r>
                        <a:t>Year of construction</a:t>
                      </a:r>
                    </a:p>
                  </a:txBody>
                  <a:tcPr anchor="ctr"/>
                </a:tc>
                <a:tc>
                  <a:txBody>
                    <a:bodyPr/>
                    <a:lstStyle/>
                    <a:p>
                      <a:pPr>
                        <a:defRPr sz="1300">
                          <a:solidFill>
                            <a:srgbClr val="333333"/>
                          </a:solidFill>
                          <a:latin typeface="Calibri"/>
                        </a:defRPr>
                      </a:pPr>
                      <a:r>
                        <a:t>1900–2025</a:t>
                      </a:r>
                    </a:p>
                  </a:txBody>
                  <a:tcPr anchor="ctr"/>
                </a:tc>
              </a:tr>
            </a:tbl>
          </a:graphicData>
        </a:graphic>
      </p:graphicFrame>
      <p:sp>
        <p:nvSpPr>
          <p:cNvPr id="6" name="TextBox 5"/>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Methods — Composite Risk Score</a:t>
            </a:r>
          </a:p>
        </p:txBody>
      </p:sp>
      <p:sp>
        <p:nvSpPr>
          <p:cNvPr id="4" name="Rectangle 3"/>
          <p:cNvSpPr/>
          <p:nvPr/>
        </p:nvSpPr>
        <p:spPr>
          <a:xfrm>
            <a:off x="731520" y="1371600"/>
            <a:ext cx="10698480" cy="11887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63040"/>
            <a:ext cx="10058400" cy="1005840"/>
          </a:xfrm>
          <a:prstGeom prst="rect">
            <a:avLst/>
          </a:prstGeom>
          <a:noFill/>
        </p:spPr>
        <p:txBody>
          <a:bodyPr wrap="square">
            <a:spAutoFit/>
          </a:bodyPr>
          <a:lstStyle/>
          <a:p>
            <a:pPr algn="ctr">
              <a:defRPr sz="2400" b="1">
                <a:solidFill>
                  <a:srgbClr val="1B3A5C"/>
                </a:solidFill>
                <a:latin typeface="Consolas"/>
              </a:defRPr>
            </a:pPr>
            <a:r>
              <a:t>risk_score  =  0.30 × condition_risk  +  0.30 × age_risk  +  0.40 × traffic_risk</a:t>
            </a:r>
          </a:p>
        </p:txBody>
      </p:sp>
      <p:sp>
        <p:nvSpPr>
          <p:cNvPr id="6" name="TextBox 5"/>
          <p:cNvSpPr txBox="1"/>
          <p:nvPr/>
        </p:nvSpPr>
        <p:spPr>
          <a:xfrm>
            <a:off x="914400" y="2926080"/>
            <a:ext cx="10515600" cy="2011680"/>
          </a:xfrm>
          <a:prstGeom prst="rect">
            <a:avLst/>
          </a:prstGeom>
          <a:noFill/>
        </p:spPr>
        <p:txBody>
          <a:bodyPr wrap="square">
            <a:spAutoFit/>
          </a:bodyPr>
          <a:lstStyle/>
          <a:p>
            <a:pPr>
              <a:spcAft>
                <a:spcPts val="1400"/>
              </a:spcAft>
              <a:defRPr sz="1600" b="0">
                <a:solidFill>
                  <a:srgbClr val="333333"/>
                </a:solidFill>
                <a:latin typeface="Calibri"/>
              </a:defRPr>
            </a:pPr>
            <a:r>
              <a:t>Condition risk  =  (9 − min_rating) / 9        Inverted NBI scale; 0 = best, 1 = worst</a:t>
            </a:r>
          </a:p>
          <a:p>
            <a:pPr>
              <a:spcAft>
                <a:spcPts val="1400"/>
              </a:spcAft>
              <a:defRPr sz="1600" b="0">
                <a:solidFill>
                  <a:srgbClr val="333333"/>
                </a:solidFill>
                <a:latin typeface="Calibri"/>
              </a:defRPr>
            </a:pPr>
            <a:r>
              <a:t>Age risk  =  min(age / 50,  1.0)                   Capped at design life of 50 years</a:t>
            </a:r>
          </a:p>
          <a:p>
            <a:pPr>
              <a:spcAft>
                <a:spcPts val="1400"/>
              </a:spcAft>
              <a:defRPr sz="1600" b="0">
                <a:solidFill>
                  <a:srgbClr val="333333"/>
                </a:solidFill>
                <a:latin typeface="Calibri"/>
              </a:defRPr>
            </a:pPr>
            <a:r>
              <a:t>Traffic risk  =  log₁ₚ(ADT) / log₁ₚ(max ADT)     Log-normalised to compress 5 orders of magnitude</a:t>
            </a:r>
          </a:p>
        </p:txBody>
      </p:sp>
      <p:sp>
        <p:nvSpPr>
          <p:cNvPr id="7" name="TextBox 6"/>
          <p:cNvSpPr txBox="1"/>
          <p:nvPr/>
        </p:nvSpPr>
        <p:spPr>
          <a:xfrm>
            <a:off x="731520" y="4937760"/>
            <a:ext cx="2743200" cy="457200"/>
          </a:xfrm>
          <a:prstGeom prst="rect">
            <a:avLst/>
          </a:prstGeom>
          <a:noFill/>
        </p:spPr>
        <p:txBody>
          <a:bodyPr wrap="square">
            <a:spAutoFit/>
          </a:bodyPr>
          <a:lstStyle/>
          <a:p>
            <a:pPr algn="l">
              <a:defRPr sz="1800" b="1">
                <a:solidFill>
                  <a:srgbClr val="1B3A5C"/>
                </a:solidFill>
                <a:latin typeface="Calibri"/>
              </a:defRPr>
            </a:pPr>
            <a:r>
              <a:t>Risk Tier Classification</a:t>
            </a:r>
          </a:p>
        </p:txBody>
      </p:sp>
      <p:graphicFrame>
        <p:nvGraphicFramePr>
          <p:cNvPr id="8" name="Table 7"/>
          <p:cNvGraphicFramePr>
            <a:graphicFrameLocks noGrp="1"/>
          </p:cNvGraphicFramePr>
          <p:nvPr/>
        </p:nvGraphicFramePr>
        <p:xfrm>
          <a:off x="731520" y="5349240"/>
          <a:ext cx="3200400" cy="1234440"/>
        </p:xfrm>
        <a:graphic>
          <a:graphicData uri="http://schemas.openxmlformats.org/drawingml/2006/table">
            <a:tbl>
              <a:tblPr firstRow="1" bandRow="1">
                <a:tableStyleId>{5C22544A-7EE6-4342-B048-85BDC9FD1C3A}</a:tableStyleId>
              </a:tblPr>
              <a:tblGrid>
                <a:gridCol w="1371600"/>
                <a:gridCol w="1828800"/>
              </a:tblGrid>
              <a:tr h="246888">
                <a:tc>
                  <a:txBody>
                    <a:bodyPr/>
                    <a:lstStyle/>
                    <a:p>
                      <a:pPr>
                        <a:defRPr sz="1300" b="1">
                          <a:solidFill>
                            <a:srgbClr val="FFFFFF"/>
                          </a:solidFill>
                          <a:latin typeface="Calibri"/>
                        </a:defRPr>
                      </a:pPr>
                      <a:r>
                        <a:t>Tier</a:t>
                      </a:r>
                    </a:p>
                  </a:txBody>
                  <a:tcPr anchor="ctr">
                    <a:solidFill>
                      <a:srgbClr val="1B3A5C"/>
                    </a:solidFill>
                  </a:tcPr>
                </a:tc>
                <a:tc>
                  <a:txBody>
                    <a:bodyPr/>
                    <a:lstStyle/>
                    <a:p>
                      <a:pPr>
                        <a:defRPr sz="1300" b="1">
                          <a:solidFill>
                            <a:srgbClr val="FFFFFF"/>
                          </a:solidFill>
                          <a:latin typeface="Calibri"/>
                        </a:defRPr>
                      </a:pPr>
                      <a:r>
                        <a:t>Score Range</a:t>
                      </a:r>
                    </a:p>
                  </a:txBody>
                  <a:tcPr anchor="ctr">
                    <a:solidFill>
                      <a:srgbClr val="1B3A5C"/>
                    </a:solidFill>
                  </a:tcPr>
                </a:tc>
              </a:tr>
              <a:tr h="246888">
                <a:tc>
                  <a:txBody>
                    <a:bodyPr/>
                    <a:lstStyle/>
                    <a:p>
                      <a:pPr>
                        <a:defRPr sz="1300">
                          <a:solidFill>
                            <a:srgbClr val="333333"/>
                          </a:solidFill>
                          <a:latin typeface="Calibri"/>
                        </a:defRPr>
                      </a:pPr>
                      <a:r>
                        <a:t>Low</a:t>
                      </a:r>
                    </a:p>
                  </a:txBody>
                  <a:tcPr anchor="ctr"/>
                </a:tc>
                <a:tc>
                  <a:txBody>
                    <a:bodyPr/>
                    <a:lstStyle/>
                    <a:p>
                      <a:pPr>
                        <a:defRPr sz="1300">
                          <a:solidFill>
                            <a:srgbClr val="333333"/>
                          </a:solidFill>
                          <a:latin typeface="Calibri"/>
                        </a:defRPr>
                      </a:pPr>
                      <a:r>
                        <a:t>0.00 – 0.24</a:t>
                      </a:r>
                    </a:p>
                  </a:txBody>
                  <a:tcPr anchor="ctr"/>
                </a:tc>
              </a:tr>
              <a:tr h="246888">
                <a:tc>
                  <a:txBody>
                    <a:bodyPr/>
                    <a:lstStyle/>
                    <a:p>
                      <a:pPr>
                        <a:defRPr sz="1300">
                          <a:solidFill>
                            <a:srgbClr val="333333"/>
                          </a:solidFill>
                          <a:latin typeface="Calibri"/>
                        </a:defRPr>
                      </a:pPr>
                      <a:r>
                        <a:t>Moderate</a:t>
                      </a:r>
                    </a:p>
                  </a:txBody>
                  <a:tcPr anchor="ctr">
                    <a:solidFill>
                      <a:srgbClr val="E8EEF4"/>
                    </a:solidFill>
                  </a:tcPr>
                </a:tc>
                <a:tc>
                  <a:txBody>
                    <a:bodyPr/>
                    <a:lstStyle/>
                    <a:p>
                      <a:pPr>
                        <a:defRPr sz="1300">
                          <a:solidFill>
                            <a:srgbClr val="333333"/>
                          </a:solidFill>
                          <a:latin typeface="Calibri"/>
                        </a:defRPr>
                      </a:pPr>
                      <a:r>
                        <a:t>0.25 – 0.49</a:t>
                      </a:r>
                    </a:p>
                  </a:txBody>
                  <a:tcPr anchor="ctr">
                    <a:solidFill>
                      <a:srgbClr val="E8EEF4"/>
                    </a:solidFill>
                  </a:tcPr>
                </a:tc>
              </a:tr>
              <a:tr h="246888">
                <a:tc>
                  <a:txBody>
                    <a:bodyPr/>
                    <a:lstStyle/>
                    <a:p>
                      <a:pPr>
                        <a:defRPr sz="1300">
                          <a:solidFill>
                            <a:srgbClr val="333333"/>
                          </a:solidFill>
                          <a:latin typeface="Calibri"/>
                        </a:defRPr>
                      </a:pPr>
                      <a:r>
                        <a:t>High</a:t>
                      </a:r>
                    </a:p>
                  </a:txBody>
                  <a:tcPr anchor="ctr"/>
                </a:tc>
                <a:tc>
                  <a:txBody>
                    <a:bodyPr/>
                    <a:lstStyle/>
                    <a:p>
                      <a:pPr>
                        <a:defRPr sz="1300">
                          <a:solidFill>
                            <a:srgbClr val="333333"/>
                          </a:solidFill>
                          <a:latin typeface="Calibri"/>
                        </a:defRPr>
                      </a:pPr>
                      <a:r>
                        <a:t>0.50 – 0.74</a:t>
                      </a:r>
                    </a:p>
                  </a:txBody>
                  <a:tcPr anchor="ctr"/>
                </a:tc>
              </a:tr>
              <a:tr h="246888">
                <a:tc>
                  <a:txBody>
                    <a:bodyPr/>
                    <a:lstStyle/>
                    <a:p>
                      <a:pPr>
                        <a:defRPr sz="1300">
                          <a:solidFill>
                            <a:srgbClr val="333333"/>
                          </a:solidFill>
                          <a:latin typeface="Calibri"/>
                        </a:defRPr>
                      </a:pPr>
                      <a:r>
                        <a:t>Critical</a:t>
                      </a:r>
                    </a:p>
                  </a:txBody>
                  <a:tcPr anchor="ctr">
                    <a:solidFill>
                      <a:srgbClr val="E8EEF4"/>
                    </a:solidFill>
                  </a:tcPr>
                </a:tc>
                <a:tc>
                  <a:txBody>
                    <a:bodyPr/>
                    <a:lstStyle/>
                    <a:p>
                      <a:pPr>
                        <a:defRPr sz="1300">
                          <a:solidFill>
                            <a:srgbClr val="333333"/>
                          </a:solidFill>
                          <a:latin typeface="Calibri"/>
                        </a:defRPr>
                      </a:pPr>
                      <a:r>
                        <a:t>0.75 – 1.00</a:t>
                      </a:r>
                    </a:p>
                  </a:txBody>
                  <a:tcPr anchor="ctr">
                    <a:solidFill>
                      <a:srgbClr val="E8EEF4"/>
                    </a:solidFill>
                  </a:tcPr>
                </a:tc>
              </a:tr>
            </a:tbl>
          </a:graphicData>
        </a:graphic>
      </p:graphicFrame>
      <p:sp>
        <p:nvSpPr>
          <p:cNvPr id="9" name="TextBox 8"/>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Results — Geographic Distribution</a:t>
            </a:r>
          </a:p>
        </p:txBody>
      </p:sp>
      <p:pic>
        <p:nvPicPr>
          <p:cNvPr id="4" name="Picture 3" descr="fig1_risk_map.png"/>
          <p:cNvPicPr>
            <a:picLocks noChangeAspect="1"/>
          </p:cNvPicPr>
          <p:nvPr/>
        </p:nvPicPr>
        <p:blipFill>
          <a:blip r:embed="rId2"/>
          <a:stretch>
            <a:fillRect/>
          </a:stretch>
        </p:blipFill>
        <p:spPr>
          <a:xfrm>
            <a:off x="365760" y="1188720"/>
            <a:ext cx="8686800" cy="5978852"/>
          </a:xfrm>
          <a:prstGeom prst="rect">
            <a:avLst/>
          </a:prstGeom>
        </p:spPr>
      </p:pic>
      <p:sp>
        <p:nvSpPr>
          <p:cNvPr id="5" name="TextBox 4"/>
          <p:cNvSpPr txBox="1"/>
          <p:nvPr/>
        </p:nvSpPr>
        <p:spPr>
          <a:xfrm>
            <a:off x="9326880" y="1828800"/>
            <a:ext cx="2560320" cy="3657600"/>
          </a:xfrm>
          <a:prstGeom prst="rect">
            <a:avLst/>
          </a:prstGeom>
          <a:noFill/>
        </p:spPr>
        <p:txBody>
          <a:bodyPr wrap="square">
            <a:spAutoFit/>
          </a:bodyPr>
          <a:lstStyle/>
          <a:p>
            <a:pPr>
              <a:spcAft>
                <a:spcPts val="1600"/>
              </a:spcAft>
              <a:defRPr sz="1500" b="0">
                <a:solidFill>
                  <a:srgbClr val="333333"/>
                </a:solidFill>
                <a:latin typeface="Calibri"/>
              </a:defRPr>
            </a:pPr>
            <a:r>
              <a:t>East–west gradient: highest risk concentrated in eastern third of the state</a:t>
            </a:r>
          </a:p>
          <a:p>
            <a:pPr>
              <a:spcAft>
                <a:spcPts val="1600"/>
              </a:spcAft>
              <a:defRPr sz="1500" b="0">
                <a:solidFill>
                  <a:srgbClr val="333333"/>
                </a:solidFill>
                <a:latin typeface="Calibri"/>
              </a:defRPr>
            </a:pPr>
            <a:r>
              <a:t>Urban interstate corridors show isolated high-risk clusters from 1950s–60s construction</a:t>
            </a:r>
          </a:p>
        </p:txBody>
      </p:sp>
      <p:sp>
        <p:nvSpPr>
          <p:cNvPr id="6" name="TextBox 5"/>
          <p:cNvSpPr txBox="1"/>
          <p:nvPr/>
        </p:nvSpPr>
        <p:spPr>
          <a:xfrm>
            <a:off x="365760" y="6126480"/>
            <a:ext cx="8686800" cy="457200"/>
          </a:xfrm>
          <a:prstGeom prst="rect">
            <a:avLst/>
          </a:prstGeom>
          <a:noFill/>
        </p:spPr>
        <p:txBody>
          <a:bodyPr wrap="square">
            <a:spAutoFit/>
          </a:bodyPr>
          <a:lstStyle/>
          <a:p>
            <a:pPr algn="l">
              <a:defRPr sz="1100" b="0">
                <a:solidFill>
                  <a:srgbClr val="666666"/>
                </a:solidFill>
                <a:latin typeface="Calibri"/>
              </a:defRPr>
            </a:pPr>
            <a:r>
              <a:t>Figure 1. Composite risk scores for 56,951 Texas NBI structures, 2025. Insets show Dallas–Fort Worth, Houston, and San Antonio–Austin metro areas.</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Results — Age vs. Structural Condition</a:t>
            </a:r>
          </a:p>
        </p:txBody>
      </p:sp>
      <p:pic>
        <p:nvPicPr>
          <p:cNvPr id="4" name="Picture 3" descr="fig2_age_condition.png"/>
          <p:cNvPicPr>
            <a:picLocks noChangeAspect="1"/>
          </p:cNvPicPr>
          <p:nvPr/>
        </p:nvPicPr>
        <p:blipFill>
          <a:blip r:embed="rId2"/>
          <a:stretch>
            <a:fillRect/>
          </a:stretch>
        </p:blipFill>
        <p:spPr>
          <a:xfrm>
            <a:off x="365760" y="1188720"/>
            <a:ext cx="7772400" cy="5491946"/>
          </a:xfrm>
          <a:prstGeom prst="rect">
            <a:avLst/>
          </a:prstGeom>
        </p:spPr>
      </p:pic>
      <p:sp>
        <p:nvSpPr>
          <p:cNvPr id="5" name="TextBox 4"/>
          <p:cNvSpPr txBox="1"/>
          <p:nvPr/>
        </p:nvSpPr>
        <p:spPr>
          <a:xfrm>
            <a:off x="8503920" y="1828800"/>
            <a:ext cx="3383280" cy="3657600"/>
          </a:xfrm>
          <a:prstGeom prst="rect">
            <a:avLst/>
          </a:prstGeom>
          <a:noFill/>
        </p:spPr>
        <p:txBody>
          <a:bodyPr wrap="square">
            <a:spAutoFit/>
          </a:bodyPr>
          <a:lstStyle/>
          <a:p>
            <a:pPr>
              <a:spcAft>
                <a:spcPts val="1600"/>
              </a:spcAft>
              <a:defRPr sz="1500" b="0">
                <a:solidFill>
                  <a:srgbClr val="333333"/>
                </a:solidFill>
                <a:latin typeface="Calibri"/>
              </a:defRPr>
            </a:pPr>
            <a:r>
              <a:t>43.8% of bridges exceed 50-year design life, yet only 1.5% of those rate as Poor</a:t>
            </a:r>
          </a:p>
          <a:p>
            <a:pPr>
              <a:spcAft>
                <a:spcPts val="1600"/>
              </a:spcAft>
              <a:defRPr sz="1500" b="0">
                <a:solidFill>
                  <a:srgbClr val="333333"/>
                </a:solidFill>
                <a:latin typeface="Calibri"/>
              </a:defRPr>
            </a:pPr>
            <a:r>
              <a:t>Dense clustering at rating 6–7 across all ages suggests maintenance sustains condition</a:t>
            </a:r>
          </a:p>
        </p:txBody>
      </p:sp>
      <p:sp>
        <p:nvSpPr>
          <p:cNvPr id="6" name="TextBox 5"/>
          <p:cNvSpPr txBox="1"/>
          <p:nvPr/>
        </p:nvSpPr>
        <p:spPr>
          <a:xfrm>
            <a:off x="365760" y="6126480"/>
            <a:ext cx="8229600" cy="457200"/>
          </a:xfrm>
          <a:prstGeom prst="rect">
            <a:avLst/>
          </a:prstGeom>
          <a:noFill/>
        </p:spPr>
        <p:txBody>
          <a:bodyPr wrap="square">
            <a:spAutoFit/>
          </a:bodyPr>
          <a:lstStyle/>
          <a:p>
            <a:pPr algn="l">
              <a:defRPr sz="1100" b="0">
                <a:solidFill>
                  <a:srgbClr val="666666"/>
                </a:solidFill>
                <a:latin typeface="Calibri"/>
              </a:defRPr>
            </a:pPr>
            <a:r>
              <a:t>Figure 2. Bridge age vs. minimum condition rating, coloured by composite risk score. Dashed lines mark the FHWA Poor threshold (rating 4) and the 50-year design life.</a:t>
            </a:r>
          </a:p>
        </p:txBody>
      </p:sp>
      <p:sp>
        <p:nvSpPr>
          <p:cNvPr id="7" name="TextBox 6"/>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Results — Risk Distribution &amp; County Analysis</a:t>
            </a:r>
          </a:p>
        </p:txBody>
      </p:sp>
      <p:pic>
        <p:nvPicPr>
          <p:cNvPr id="4" name="Picture 3" descr="fig3_risk_distribution.png"/>
          <p:cNvPicPr>
            <a:picLocks noChangeAspect="1"/>
          </p:cNvPicPr>
          <p:nvPr/>
        </p:nvPicPr>
        <p:blipFill>
          <a:blip r:embed="rId2"/>
          <a:stretch>
            <a:fillRect/>
          </a:stretch>
        </p:blipFill>
        <p:spPr>
          <a:xfrm>
            <a:off x="182880" y="1188720"/>
            <a:ext cx="5943600" cy="3723866"/>
          </a:xfrm>
          <a:prstGeom prst="rect">
            <a:avLst/>
          </a:prstGeom>
        </p:spPr>
      </p:pic>
      <p:pic>
        <p:nvPicPr>
          <p:cNvPr id="5" name="Picture 4" descr="fig4_county_risk.png"/>
          <p:cNvPicPr>
            <a:picLocks noChangeAspect="1"/>
          </p:cNvPicPr>
          <p:nvPr/>
        </p:nvPicPr>
        <p:blipFill>
          <a:blip r:embed="rId3"/>
          <a:stretch>
            <a:fillRect/>
          </a:stretch>
        </p:blipFill>
        <p:spPr>
          <a:xfrm>
            <a:off x="6217920" y="1188720"/>
            <a:ext cx="5760720" cy="4723971"/>
          </a:xfrm>
          <a:prstGeom prst="rect">
            <a:avLst/>
          </a:prstGeom>
        </p:spPr>
      </p:pic>
      <p:sp>
        <p:nvSpPr>
          <p:cNvPr id="6" name="TextBox 5"/>
          <p:cNvSpPr txBox="1"/>
          <p:nvPr/>
        </p:nvSpPr>
        <p:spPr>
          <a:xfrm>
            <a:off x="182880" y="5943600"/>
            <a:ext cx="5943600" cy="640080"/>
          </a:xfrm>
          <a:prstGeom prst="rect">
            <a:avLst/>
          </a:prstGeom>
          <a:noFill/>
        </p:spPr>
        <p:txBody>
          <a:bodyPr wrap="square">
            <a:spAutoFit/>
          </a:bodyPr>
          <a:lstStyle/>
          <a:p>
            <a:pPr algn="l">
              <a:defRPr sz="1100" b="0">
                <a:solidFill>
                  <a:srgbClr val="666666"/>
                </a:solidFill>
                <a:latin typeface="Calibri"/>
              </a:defRPr>
            </a:pPr>
            <a:r>
              <a:t>Figure 3. Distribution of risk scores. 35.8% of bridges fall in the Critical tier (&gt;0.75). Mean = 0.60, Median = 0.68.</a:t>
            </a:r>
          </a:p>
        </p:txBody>
      </p:sp>
      <p:sp>
        <p:nvSpPr>
          <p:cNvPr id="7" name="TextBox 6"/>
          <p:cNvSpPr txBox="1"/>
          <p:nvPr/>
        </p:nvSpPr>
        <p:spPr>
          <a:xfrm>
            <a:off x="6217920" y="5943600"/>
            <a:ext cx="5760720" cy="640080"/>
          </a:xfrm>
          <a:prstGeom prst="rect">
            <a:avLst/>
          </a:prstGeom>
          <a:noFill/>
        </p:spPr>
        <p:txBody>
          <a:bodyPr wrap="square">
            <a:spAutoFit/>
          </a:bodyPr>
          <a:lstStyle/>
          <a:p>
            <a:pPr algn="l">
              <a:defRPr sz="1100" b="0">
                <a:solidFill>
                  <a:srgbClr val="666666"/>
                </a:solidFill>
                <a:latin typeface="Calibri"/>
              </a:defRPr>
            </a:pPr>
            <a:r>
              <a:t>Figure 4. Top 20 counties by mean risk score (min. 50 bridges). County 235 (Irion) has the highest mean risk at 0.77.</a:t>
            </a:r>
          </a:p>
        </p:txBody>
      </p:sp>
      <p:sp>
        <p:nvSpPr>
          <p:cNvPr id="8" name="TextBox 7"/>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Discussion</a:t>
            </a:r>
          </a:p>
        </p:txBody>
      </p:sp>
      <p:sp>
        <p:nvSpPr>
          <p:cNvPr id="4" name="TextBox 3"/>
          <p:cNvSpPr txBox="1"/>
          <p:nvPr/>
        </p:nvSpPr>
        <p:spPr>
          <a:xfrm>
            <a:off x="731520" y="1463040"/>
            <a:ext cx="10515600" cy="4114800"/>
          </a:xfrm>
          <a:prstGeom prst="rect">
            <a:avLst/>
          </a:prstGeom>
          <a:noFill/>
        </p:spPr>
        <p:txBody>
          <a:bodyPr wrap="square">
            <a:spAutoFit/>
          </a:bodyPr>
          <a:lstStyle/>
          <a:p>
            <a:pPr>
              <a:spcAft>
                <a:spcPts val="2200"/>
              </a:spcAft>
              <a:defRPr sz="2000" b="0">
                <a:solidFill>
                  <a:srgbClr val="333333"/>
                </a:solidFill>
                <a:latin typeface="Calibri"/>
              </a:defRPr>
            </a:pPr>
            <a:r>
              <a:t>Condition data alone understates risk: 1.2% rated Poor, but 66.9% score High or Critical</a:t>
            </a:r>
          </a:p>
          <a:p>
            <a:pPr>
              <a:spcAft>
                <a:spcPts val="2200"/>
              </a:spcAft>
              <a:defRPr sz="2000" b="0">
                <a:solidFill>
                  <a:srgbClr val="333333"/>
                </a:solidFill>
                <a:latin typeface="Calibri"/>
              </a:defRPr>
            </a:pPr>
            <a:r>
              <a:t>Composite scoring enables objective prioritisation across a 57,000-structure portfolio</a:t>
            </a:r>
          </a:p>
          <a:p>
            <a:pPr>
              <a:spcAft>
                <a:spcPts val="2200"/>
              </a:spcAft>
              <a:defRPr sz="2000" b="0">
                <a:solidFill>
                  <a:srgbClr val="333333"/>
                </a:solidFill>
                <a:latin typeface="Calibri"/>
              </a:defRPr>
            </a:pPr>
            <a:r>
              <a:t>Open NBI data and transparent methods support full reproducibility by other agencies</a:t>
            </a:r>
          </a:p>
          <a:p>
            <a:pPr>
              <a:spcAft>
                <a:spcPts val="2200"/>
              </a:spcAft>
              <a:defRPr sz="2000" b="0">
                <a:solidFill>
                  <a:srgbClr val="333333"/>
                </a:solidFill>
                <a:latin typeface="Calibri"/>
              </a:defRPr>
            </a:pPr>
            <a:r>
              <a:t>Geographic targeting of East Texas could address disproportionate share of risk</a:t>
            </a:r>
          </a:p>
          <a:p>
            <a:pPr>
              <a:spcAft>
                <a:spcPts val="2200"/>
              </a:spcAft>
              <a:defRPr sz="2000" b="0">
                <a:solidFill>
                  <a:srgbClr val="333333"/>
                </a:solidFill>
                <a:latin typeface="Calibri"/>
              </a:defRPr>
            </a:pPr>
            <a:r>
              <a:t>Limitation: cross-sectional snapshot; longitudinal tracking needed to validate trajectories</a:t>
            </a:r>
          </a:p>
        </p:txBody>
      </p:sp>
      <p:sp>
        <p:nvSpPr>
          <p:cNvPr id="5" name="TextBox 4"/>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731520"/>
          </a:xfrm>
          <a:prstGeom prst="rect">
            <a:avLst/>
          </a:prstGeom>
          <a:noFill/>
        </p:spPr>
        <p:txBody>
          <a:bodyPr wrap="square">
            <a:spAutoFit/>
          </a:bodyPr>
          <a:lstStyle/>
          <a:p>
            <a:pPr algn="l">
              <a:defRPr sz="3000" b="1">
                <a:solidFill>
                  <a:srgbClr val="FFFFFF"/>
                </a:solidFill>
                <a:latin typeface="Calibri"/>
              </a:defRPr>
            </a:pPr>
            <a:r>
              <a:t>Conclusions &amp; Future Work</a:t>
            </a:r>
          </a:p>
        </p:txBody>
      </p:sp>
      <p:sp>
        <p:nvSpPr>
          <p:cNvPr id="4" name="TextBox 3"/>
          <p:cNvSpPr txBox="1"/>
          <p:nvPr/>
        </p:nvSpPr>
        <p:spPr>
          <a:xfrm>
            <a:off x="731520" y="1280160"/>
            <a:ext cx="5029200" cy="457200"/>
          </a:xfrm>
          <a:prstGeom prst="rect">
            <a:avLst/>
          </a:prstGeom>
          <a:noFill/>
        </p:spPr>
        <p:txBody>
          <a:bodyPr wrap="square">
            <a:spAutoFit/>
          </a:bodyPr>
          <a:lstStyle/>
          <a:p>
            <a:pPr algn="l">
              <a:defRPr sz="2200" b="1">
                <a:solidFill>
                  <a:srgbClr val="1B3A5C"/>
                </a:solidFill>
                <a:latin typeface="Calibri"/>
              </a:defRPr>
            </a:pPr>
            <a:r>
              <a:t>Conclusions</a:t>
            </a:r>
          </a:p>
        </p:txBody>
      </p:sp>
      <p:sp>
        <p:nvSpPr>
          <p:cNvPr id="5" name="TextBox 4"/>
          <p:cNvSpPr txBox="1"/>
          <p:nvPr/>
        </p:nvSpPr>
        <p:spPr>
          <a:xfrm>
            <a:off x="731520" y="1737360"/>
            <a:ext cx="10515600" cy="2103120"/>
          </a:xfrm>
          <a:prstGeom prst="rect">
            <a:avLst/>
          </a:prstGeom>
          <a:noFill/>
        </p:spPr>
        <p:txBody>
          <a:bodyPr wrap="square">
            <a:spAutoFit/>
          </a:bodyPr>
          <a:lstStyle/>
          <a:p>
            <a:pPr>
              <a:spcAft>
                <a:spcPts val="1400"/>
              </a:spcAft>
              <a:defRPr sz="1700" b="0">
                <a:solidFill>
                  <a:srgbClr val="333333"/>
                </a:solidFill>
                <a:latin typeface="Calibri"/>
              </a:defRPr>
            </a:pPr>
            <a:r>
              <a:t>66.9% of Texas bridges score High or Critical under composite risk assessment, far exceeding the 1.2% identified by condition ratings alone</a:t>
            </a:r>
          </a:p>
          <a:p>
            <a:pPr>
              <a:spcAft>
                <a:spcPts val="1400"/>
              </a:spcAft>
              <a:defRPr sz="1700" b="0">
                <a:solidFill>
                  <a:srgbClr val="333333"/>
                </a:solidFill>
                <a:latin typeface="Calibri"/>
              </a:defRPr>
            </a:pPr>
            <a:r>
              <a:t>Bridge age is the dominant risk driver: 43.8% of structures exceed their 50-year design life, with risk concentrated in rural East Texas</a:t>
            </a:r>
          </a:p>
          <a:p>
            <a:pPr>
              <a:spcAft>
                <a:spcPts val="1400"/>
              </a:spcAft>
              <a:defRPr sz="1700" b="0">
                <a:solidFill>
                  <a:srgbClr val="333333"/>
                </a:solidFill>
                <a:latin typeface="Calibri"/>
              </a:defRPr>
            </a:pPr>
            <a:r>
              <a:t>18 Poor-condition bridges carry over 50,000 vehicles/day on major interstates, representing the highest consequence-of-failure concentration</a:t>
            </a:r>
          </a:p>
        </p:txBody>
      </p:sp>
      <p:sp>
        <p:nvSpPr>
          <p:cNvPr id="6" name="TextBox 5"/>
          <p:cNvSpPr txBox="1"/>
          <p:nvPr/>
        </p:nvSpPr>
        <p:spPr>
          <a:xfrm>
            <a:off x="731520" y="3840480"/>
            <a:ext cx="5029200" cy="457200"/>
          </a:xfrm>
          <a:prstGeom prst="rect">
            <a:avLst/>
          </a:prstGeom>
          <a:noFill/>
        </p:spPr>
        <p:txBody>
          <a:bodyPr wrap="square">
            <a:spAutoFit/>
          </a:bodyPr>
          <a:lstStyle/>
          <a:p>
            <a:pPr algn="l">
              <a:defRPr sz="2200" b="1">
                <a:solidFill>
                  <a:srgbClr val="1B3A5C"/>
                </a:solidFill>
                <a:latin typeface="Calibri"/>
              </a:defRPr>
            </a:pPr>
            <a:r>
              <a:t>Future Work</a:t>
            </a:r>
          </a:p>
        </p:txBody>
      </p:sp>
      <p:sp>
        <p:nvSpPr>
          <p:cNvPr id="7" name="TextBox 6"/>
          <p:cNvSpPr txBox="1"/>
          <p:nvPr/>
        </p:nvSpPr>
        <p:spPr>
          <a:xfrm>
            <a:off x="731520" y="4297680"/>
            <a:ext cx="10515600" cy="640080"/>
          </a:xfrm>
          <a:prstGeom prst="rect">
            <a:avLst/>
          </a:prstGeom>
          <a:noFill/>
        </p:spPr>
        <p:txBody>
          <a:bodyPr wrap="square">
            <a:spAutoFit/>
          </a:bodyPr>
          <a:lstStyle/>
          <a:p>
            <a:pPr>
              <a:spcAft>
                <a:spcPts val="800"/>
              </a:spcAft>
              <a:defRPr sz="1700" b="0">
                <a:solidFill>
                  <a:srgbClr val="333333"/>
                </a:solidFill>
                <a:latin typeface="Calibri"/>
              </a:defRPr>
            </a:pPr>
            <a:r>
              <a:t>Longitudinal analysis of NBI rating trajectories linked to maintenance expenditure records to distinguish durable structural health from deferred risk</a:t>
            </a:r>
          </a:p>
        </p:txBody>
      </p:sp>
      <p:sp>
        <p:nvSpPr>
          <p:cNvPr id="8" name="TextBox 7"/>
          <p:cNvSpPr txBox="1"/>
          <p:nvPr/>
        </p:nvSpPr>
        <p:spPr>
          <a:xfrm>
            <a:off x="731520" y="5029200"/>
            <a:ext cx="5029200" cy="457200"/>
          </a:xfrm>
          <a:prstGeom prst="rect">
            <a:avLst/>
          </a:prstGeom>
          <a:noFill/>
        </p:spPr>
        <p:txBody>
          <a:bodyPr wrap="square">
            <a:spAutoFit/>
          </a:bodyPr>
          <a:lstStyle/>
          <a:p>
            <a:pPr algn="l">
              <a:defRPr sz="1800" b="1">
                <a:solidFill>
                  <a:srgbClr val="1B3A5C"/>
                </a:solidFill>
                <a:latin typeface="Calibri"/>
              </a:defRPr>
            </a:pPr>
            <a:r>
              <a:t>References</a:t>
            </a:r>
          </a:p>
        </p:txBody>
      </p:sp>
      <p:sp>
        <p:nvSpPr>
          <p:cNvPr id="9" name="TextBox 8"/>
          <p:cNvSpPr txBox="1"/>
          <p:nvPr/>
        </p:nvSpPr>
        <p:spPr>
          <a:xfrm>
            <a:off x="731520" y="5394960"/>
            <a:ext cx="10515600" cy="1371600"/>
          </a:xfrm>
          <a:prstGeom prst="rect">
            <a:avLst/>
          </a:prstGeom>
          <a:noFill/>
        </p:spPr>
        <p:txBody>
          <a:bodyPr wrap="square">
            <a:spAutoFit/>
          </a:bodyPr>
          <a:lstStyle/>
          <a:p>
            <a:pPr>
              <a:spcAft>
                <a:spcPts val="600"/>
              </a:spcAft>
              <a:defRPr sz="1100" b="0">
                <a:solidFill>
                  <a:srgbClr val="666666"/>
                </a:solidFill>
                <a:latin typeface="Calibri"/>
              </a:defRPr>
            </a:pPr>
            <a:r>
              <a:t>ASCE. (2021). 2021 Report Card for America’s Infrastructure. American Society of Civil Engineers.</a:t>
            </a:r>
          </a:p>
          <a:p>
            <a:pPr>
              <a:spcAft>
                <a:spcPts val="600"/>
              </a:spcAft>
              <a:defRPr sz="1100" b="0">
                <a:solidFill>
                  <a:srgbClr val="666666"/>
                </a:solidFill>
                <a:latin typeface="Calibri"/>
              </a:defRPr>
            </a:pPr>
            <a:r>
              <a:t>FHWA. (2025). National Bridge Inventory ASCII Data. Federal Highway Administration. https://www.fhwa.dot.gov/bridge/nbi/ascii.cfm</a:t>
            </a:r>
          </a:p>
          <a:p>
            <a:pPr>
              <a:spcAft>
                <a:spcPts val="600"/>
              </a:spcAft>
              <a:defRPr sz="1100" b="0">
                <a:solidFill>
                  <a:srgbClr val="666666"/>
                </a:solidFill>
                <a:latin typeface="Calibri"/>
              </a:defRPr>
            </a:pPr>
            <a:r>
              <a:t>Bolukbasi, M., Mohammadi, J., &amp; Arditi, D. (2004). Estimating the future condition of highway bridge components. Journal of Infrastructure Systems, 10(3), 118–125.</a:t>
            </a:r>
          </a:p>
          <a:p>
            <a:pPr>
              <a:spcAft>
                <a:spcPts val="600"/>
              </a:spcAft>
              <a:defRPr sz="1100" b="0">
                <a:solidFill>
                  <a:srgbClr val="666666"/>
                </a:solidFill>
                <a:latin typeface="Calibri"/>
              </a:defRPr>
            </a:pPr>
            <a:r>
              <a:t>Chase, S. B., Adu-Gyamfi, Y., Aktan, A. E., &amp; Minaie, E. (2016). Synthesis of National and International Methodologies Used for Bridge Health Indices. FHWA Report No. FHWA-HRT-15-081.</a:t>
            </a:r>
          </a:p>
        </p:txBody>
      </p:sp>
      <p:sp>
        <p:nvSpPr>
          <p:cNvPr id="10" name="TextBox 9"/>
          <p:cNvSpPr txBox="1"/>
          <p:nvPr/>
        </p:nvSpPr>
        <p:spPr>
          <a:xfrm>
            <a:off x="11338560" y="6446520"/>
            <a:ext cx="731520" cy="320040"/>
          </a:xfrm>
          <a:prstGeom prst="rect">
            <a:avLst/>
          </a:prstGeom>
          <a:noFill/>
        </p:spPr>
        <p:txBody>
          <a:bodyPr wrap="square">
            <a:spAutoFit/>
          </a:bodyPr>
          <a:lstStyle/>
          <a:p>
            <a:pPr algn="r">
              <a:defRPr sz="1000" b="0">
                <a:solidFill>
                  <a:srgbClr val="666666"/>
                </a:solidFill>
                <a:latin typeface="Calibri"/>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