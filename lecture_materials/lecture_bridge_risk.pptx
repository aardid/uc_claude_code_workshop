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Bridge Risk Assessment workshop. Today we will work through a complete data analysis pipeline: loading real infrastructure data from the FHWA National Bridge Inventory, computing composite risk scores, and exploring the results interactively. By the end of this session, you will have hands-on experience with an open dataset that is used by every state transport agency in the United States. The skills transfer directly to asset management practice.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bridge failures illustrate why risk assessment matters. In each case, inspection data showed deterioration before collapse. The I-35W bridge had been rated structurally deficient for over a decade. The lesson is not that we lack data -- the NBI collects detailed condition ratings on every public bridge. The problem is translating that data into prioritised action. With tens of thousands of bridges in a single state, agencies need a systematic framework to decide where to allocate limited inspection and rehabilitation budgets. That is exactly what we build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Texas has the largest bridge inventory in the United States. Inspecting and maintaining nearly 57,000 structures requires systematic prioritisation. Condition ratings alone tell you what is wrong now, but not how urgently it needs attention. A bridge rated 5 out of 9 on a quiet rural road is very different from one rated 5 on an interstate carrying 200,000 vehicles per day. Age matters because older bridges have accumulated more fatigue cycles and environmental exposure. The composite score we develop today combines all three dimensions into a single ranking metric.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roadmap. We begin with the data -- understanding what the NBI records and how to clean it. Then we define three risk sub-scores, each normalised between zero and one. We combine them using a weighted formula and classify every bridge into Low, Moderate, High, or Critical tiers. The bulk of the session covers interpreting the results through maps, scatter plots, and distributions. Finally, you will use the interactive explorer tool to adjust the weights yourself and see how the risk landscape changes. Each step builds on the last.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National Bridge Inventory is one of the most comprehensive infrastructure datasets in the world. Every state, federal agency, and tribal government submits annual inspection data to the FHWA. Each record captures 123 fields covering identification, location, structural details, condition ratings, and traffic. The condition ratings use a zero-to-nine scale where nine is excellent and zero means the component has failed. Coordinates are encoded in a packed integer format that we need to convert to decimal degrees. All key analysis columns are 100 percent populated in the Texas file, making it ideal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risk component captures current structural condition. The NBI rates four bridge components -- deck, superstructure, substructure, and culvert -- on a zero-to-nine scale. We take the minimum across all applicable ratings, because the weakest component governs structural adequacy. Then we invert the scale so that higher values mean higher risk. A bridge rated 9 in excellent condition gets condition risk of zero. One rated 4, the FHWA Poor threshold, gets 0.56. This linear inversion is simple but effective -- it preserves the ordinality of the NBI scale while mapping it to a consistent zero-to-one risk range.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component captures age-related deterioration. We normalise bridge age against a 50-year design life, which is the standard assumption in U.S. bridge engineering. The key design choice is the cap at 1.0. Without capping, a 125-year-old bridge would get an age risk of 2.5, which would dominate the composite score and make the other components irrelevant. The cap says: once a bridge has exceeded its design life, it is at maximum age risk regardless of how far past 50 years it is. This is a deliberate modelling choice -- additional age beyond the design life is already reflected in the condition ratings from ongoing inspections.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component captures traffic exposure as a proxy for consequence of failure. A bridge in poor condition on a quiet road is less urgent than one carrying 200,000 vehicles per day. We use log-one-plus rather than raw ADT because traffic spans five orders of magnitude. Without the log transform, linear normalisation would compress 95 percent of bridges near zero and only differentiate the top few percent. The log transform gives meaningful separation across the full range. Note that traffic risk is not a structural measure -- it captures how many people are affected if something goes wrong, which is essential for prioritisation.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composite score is a simple weighted sum of the three sub-scores. Traffic receives the highest weight at 0.40 because it captures the public safety consequence -- a failing bridge carrying 200,000 vehicles per day is a far greater concern than one carrying 200. Condition and age each get 0.30. This weighting is a modelling choice, not a physical law. Different agencies might weight condition more heavily if their priority is structural health, or weight age more if they are planning long-term capital budgets. In the hands-on session, you will experiment with different weight combinations and see how the risk landscape changes.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classify the continuous risk score into four actionable tiers. The thresholds at 0.25, 0.50, and 0.75 divide the zero-to-one range into equal quarters. The Texas results show that 61.4 percent of bridges fall in the High tier, with the bulk of the inventory concentrated there. Only 0.5 percent reach Critical, but 61.9 percent are High or Critical -- far more than the 1.2 percent that condition ratings alone flag as Poor. The discrepancy is the key finding: condition ratings understate risk because they do not account for age and traffic exposure.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headline numbers. The mean risk score of 0.52 places the average Texas bridge in the High tier. The median of 0.55 is close behind. With traffic weighted at 40 percent, the model shifts risk toward high-ADT urban corridors. The gap between the 1.2 percent rated Poor by condition alone and the 61.9 percent scoring High or Critical by the composite is the central finding. Eighteen bridges in Poor condition carry over 50,000 vehicles per day, mostly on IH-45 and IH-35E in the Houston and Dallas-Fort Worth metro areas. These represent the highest-consequence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risk map reveals a pronounced east-to-west gradient. The highest-risk structures concentrate in eastern Texas, east of the I-35 corridor, in regions like the Piney Woods and Gulf Coast. These areas contain the state's oldest road networks, many built during federal highway expansion in the 1930s through 1960s. Rural farm-to-market road bridges in counties like Polk and Limestone show particularly high risk. The metro insets show that even within cities, legacy interstate segments from the 1950s appear as high-risk clusters embedded in otherwise lower-risk networks.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arguably the most important figure. It shows that bridge age does not strongly predict condition in the Texas inventory. Nearly 44 percent of bridges have exceeded their 50-year design life, but only 1.5 percent of those are rated Poor. Most cluster at ratings 6 and 7, which is satisfactory, even at ages of 80 or 100 years. This suggests that sustained maintenance has been effective at preserving condition. However, this also creates a latent risk zone: these bridges are acceptable today but vulnerable if maintenance budgets decline. The composite score captures this risk; condition ratings alone do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county analysis shows that the highest mean risk scores are in rural counties. All 20 counties in this chart exceed the statewide mean. This is consistent with the geographic pattern: rural East Texas counties have older bridge stocks and receive less maintenance investment per structure than urban areas. Large metro counties like Harris and Tarrant have more bridges in absolute terms but their mean risk is lower because new construction dilutes the average. This urban-rural disparity has direct implications for equitable funding allocation.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has limitations, and it is important to be transparent about them. This is a single-year snapshot; we cannot track how risk changes over time without multi-year data. The tier boundaries and weights are modelling choices, not empirically calibrated thresholds. NBI ratings are assigned by inspectors in the field and have documented variability between inspectors. Traffic data may be several years old and does not capture peak-hour conditions. A production system would need to integrate maintenance records, material-specific deterioration models, and longitudinal rating trajectories.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are designed to stimulate critical thinking about modelling choices. There is no single correct answer to the weighting question -- it depends on agency priorities. Validation against actual failures is essential but difficult because bridge collapses are rare events. Additional data could include maintenance records, seismic zone classification, or climate exposure indices. The urban-rural question is particularly relevant given the funding disparity we observed. Finally, risk prioritisation is inherently an ethical exercise: deprioritising one bridge means accepting higher risk for the community that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portion. Open the bridge risk explorer HTML file in your browser. It loads all 56,951 bridges and lets you adjust the risk weights in real time. Task 1 establishes a baseline using the default weights of 30/30/40. Task 2 asks you to heavily weight condition -- this will reduce the number of Critical bridges because most bridges have acceptable condition ratings. Task 3 removes traffic entirely, which should shift the risk pattern away from urban interstates and toward older rural structures. Compare the three scenarios and prepare to discuss what weight combination you would recommend to a state transport agency.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914400" y="1188720"/>
            <a:ext cx="10332720" cy="1371600"/>
          </a:xfrm>
          <a:prstGeom prst="rect">
            <a:avLst/>
          </a:prstGeom>
          <a:noFill/>
        </p:spPr>
        <p:txBody>
          <a:bodyPr wrap="square">
            <a:spAutoFit/>
          </a:bodyPr>
          <a:lstStyle/>
          <a:p>
            <a:pPr algn="l">
              <a:defRPr sz="4200" b="1">
                <a:solidFill>
                  <a:srgbClr val="FFFFFF"/>
                </a:solidFill>
                <a:latin typeface="Calibri"/>
              </a:defRPr>
            </a:pPr>
            <a:r>
              <a:t>Bridge Risk Assessment</a:t>
            </a:r>
          </a:p>
        </p:txBody>
      </p:sp>
      <p:sp>
        <p:nvSpPr>
          <p:cNvPr id="3" name="TextBox 2"/>
          <p:cNvSpPr txBox="1"/>
          <p:nvPr/>
        </p:nvSpPr>
        <p:spPr>
          <a:xfrm>
            <a:off x="914400" y="2560320"/>
            <a:ext cx="10332720" cy="914400"/>
          </a:xfrm>
          <a:prstGeom prst="rect">
            <a:avLst/>
          </a:prstGeom>
          <a:noFill/>
        </p:spPr>
        <p:txBody>
          <a:bodyPr wrap="square">
            <a:spAutoFit/>
          </a:bodyPr>
          <a:lstStyle/>
          <a:p>
            <a:pPr algn="l">
              <a:defRPr sz="2400" b="0">
                <a:solidFill>
                  <a:srgbClr val="B0CCE6"/>
                </a:solidFill>
                <a:latin typeface="Calibri"/>
              </a:defRPr>
            </a:pPr>
            <a:r>
              <a:t>A Data-Driven Workshop Using the Texas National Bridge Inventory</a:t>
            </a:r>
          </a:p>
        </p:txBody>
      </p:sp>
      <p:sp>
        <p:nvSpPr>
          <p:cNvPr id="4" name="TextBox 3"/>
          <p:cNvSpPr txBox="1"/>
          <p:nvPr/>
        </p:nvSpPr>
        <p:spPr>
          <a:xfrm>
            <a:off x="914400" y="4206240"/>
            <a:ext cx="10332720" cy="457200"/>
          </a:xfrm>
          <a:prstGeom prst="rect">
            <a:avLst/>
          </a:prstGeom>
          <a:noFill/>
        </p:spPr>
        <p:txBody>
          <a:bodyPr wrap="square">
            <a:spAutoFit/>
          </a:bodyPr>
          <a:lstStyle/>
          <a:p>
            <a:pPr algn="l">
              <a:defRPr sz="1800" b="0">
                <a:solidFill>
                  <a:srgbClr val="B0CCE6"/>
                </a:solidFill>
                <a:latin typeface="Calibri"/>
              </a:defRPr>
            </a:pPr>
            <a:r>
              <a:t>Civil &amp; Natural Resources Engineering</a:t>
            </a:r>
          </a:p>
        </p:txBody>
      </p:sp>
      <p:sp>
        <p:nvSpPr>
          <p:cNvPr id="5" name="TextBox 4"/>
          <p:cNvSpPr txBox="1"/>
          <p:nvPr/>
        </p:nvSpPr>
        <p:spPr>
          <a:xfrm>
            <a:off x="914400" y="4663440"/>
            <a:ext cx="10332720" cy="457200"/>
          </a:xfrm>
          <a:prstGeom prst="rect">
            <a:avLst/>
          </a:prstGeom>
          <a:noFill/>
        </p:spPr>
        <p:txBody>
          <a:bodyPr wrap="square">
            <a:spAutoFit/>
          </a:bodyPr>
          <a:lstStyle/>
          <a:p>
            <a:pPr algn="l">
              <a:defRPr sz="1600" b="0">
                <a:solidFill>
                  <a:srgbClr val="90AACC"/>
                </a:solidFill>
                <a:latin typeface="Calibri"/>
              </a:defRPr>
            </a:pPr>
            <a:r>
              <a:t>University of Canterbury</a:t>
            </a:r>
          </a:p>
        </p:txBody>
      </p:sp>
      <p:sp>
        <p:nvSpPr>
          <p:cNvPr id="6" name="Rectangle 5"/>
          <p:cNvSpPr/>
          <p:nvPr/>
        </p:nvSpPr>
        <p:spPr>
          <a:xfrm>
            <a:off x="0" y="6126480"/>
            <a:ext cx="12191695" cy="731520"/>
          </a:xfrm>
          <a:prstGeom prst="rect">
            <a:avLst/>
          </a:prstGeom>
          <a:solidFill>
            <a:srgbClr val="14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199632"/>
            <a:ext cx="10332720" cy="457200"/>
          </a:xfrm>
          <a:prstGeom prst="rect">
            <a:avLst/>
          </a:prstGeom>
          <a:noFill/>
        </p:spPr>
        <p:txBody>
          <a:bodyPr wrap="square">
            <a:spAutoFit/>
          </a:bodyPr>
          <a:lstStyle/>
          <a:p>
            <a:pPr algn="l">
              <a:defRPr sz="1400" b="0">
                <a:solidFill>
                  <a:srgbClr val="90AACC"/>
                </a:solidFill>
                <a:latin typeface="Calibri"/>
              </a:defRPr>
            </a:pPr>
            <a:r>
              <a:t>Data Analysis Workshop  |  2025  |  Interactive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Why Bridge Risk Matters</a:t>
            </a:r>
          </a:p>
        </p:txBody>
      </p:sp>
      <p:sp>
        <p:nvSpPr>
          <p:cNvPr id="4" name="TextBox 3"/>
          <p:cNvSpPr txBox="1"/>
          <p:nvPr/>
        </p:nvSpPr>
        <p:spPr>
          <a:xfrm>
            <a:off x="731520" y="1463040"/>
            <a:ext cx="10515600" cy="4114800"/>
          </a:xfrm>
          <a:prstGeom prst="rect">
            <a:avLst/>
          </a:prstGeom>
          <a:noFill/>
        </p:spPr>
        <p:txBody>
          <a:bodyPr wrap="square">
            <a:spAutoFit/>
          </a:bodyPr>
          <a:lstStyle/>
          <a:p>
            <a:pPr>
              <a:spcAft>
                <a:spcPts val="2000"/>
              </a:spcAft>
              <a:defRPr sz="2100" b="0">
                <a:solidFill>
                  <a:srgbClr val="333333"/>
                </a:solidFill>
                <a:latin typeface="Calibri"/>
              </a:defRPr>
            </a:pPr>
            <a:r>
              <a:t>I-35W Mississippi River bridge collapse (2007) -- 13 fatalities, rated 'structurally deficient'</a:t>
            </a:r>
          </a:p>
          <a:p>
            <a:pPr>
              <a:spcAft>
                <a:spcPts val="2000"/>
              </a:spcAft>
              <a:defRPr sz="2100" b="0">
                <a:solidFill>
                  <a:srgbClr val="333333"/>
                </a:solidFill>
                <a:latin typeface="Calibri"/>
              </a:defRPr>
            </a:pPr>
            <a:r>
              <a:t>Fern Hollow Bridge, Pittsburgh (2022) -- collapsed hours before presidential visit</a:t>
            </a:r>
          </a:p>
          <a:p>
            <a:pPr>
              <a:spcAft>
                <a:spcPts val="2000"/>
              </a:spcAft>
              <a:defRPr sz="2100" b="0">
                <a:solidFill>
                  <a:srgbClr val="333333"/>
                </a:solidFill>
                <a:latin typeface="Calibri"/>
              </a:defRPr>
            </a:pPr>
            <a:r>
              <a:t>Morandi Bridge, Genoa (2018) -- 43 deaths; cable-stayed span failed during routine traffic</a:t>
            </a:r>
          </a:p>
          <a:p>
            <a:pPr>
              <a:spcAft>
                <a:spcPts val="2000"/>
              </a:spcAft>
              <a:defRPr sz="2100" b="0">
                <a:solidFill>
                  <a:srgbClr val="333333"/>
                </a:solidFill>
                <a:latin typeface="Calibri"/>
              </a:defRPr>
            </a:pPr>
            <a:r>
              <a:t>Common thread: deterioration was documented, but not acted on in time</a:t>
            </a:r>
          </a:p>
        </p:txBody>
      </p:sp>
      <p:sp>
        <p:nvSpPr>
          <p:cNvPr id="5" name="TextBox 4"/>
          <p:cNvSpPr txBox="1"/>
          <p:nvPr/>
        </p:nvSpPr>
        <p:spPr>
          <a:xfrm>
            <a:off x="731520" y="5394960"/>
            <a:ext cx="10515600" cy="457200"/>
          </a:xfrm>
          <a:prstGeom prst="rect">
            <a:avLst/>
          </a:prstGeom>
          <a:noFill/>
        </p:spPr>
        <p:txBody>
          <a:bodyPr wrap="square">
            <a:spAutoFit/>
          </a:bodyPr>
          <a:lstStyle/>
          <a:p>
            <a:pPr algn="l">
              <a:defRPr sz="1800" b="1">
                <a:solidFill>
                  <a:srgbClr val="2C5F8A"/>
                </a:solidFill>
                <a:latin typeface="Calibri"/>
              </a:defRPr>
            </a:pPr>
            <a:r>
              <a:t>Question: How do we move from documenting deficiency to prioritising intervention?</a:t>
            </a:r>
          </a:p>
        </p:txBody>
      </p:sp>
      <p:sp>
        <p:nvSpPr>
          <p:cNvPr id="6" name="TextBox 5"/>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The Prioritisation Problem</a:t>
            </a:r>
          </a:p>
        </p:txBody>
      </p:sp>
      <p:sp>
        <p:nvSpPr>
          <p:cNvPr id="4" name="TextBox 3"/>
          <p:cNvSpPr txBox="1"/>
          <p:nvPr/>
        </p:nvSpPr>
        <p:spPr>
          <a:xfrm>
            <a:off x="731520" y="1463040"/>
            <a:ext cx="5029200" cy="3657600"/>
          </a:xfrm>
          <a:prstGeom prst="rect">
            <a:avLst/>
          </a:prstGeom>
          <a:noFill/>
        </p:spPr>
        <p:txBody>
          <a:bodyPr wrap="square">
            <a:spAutoFit/>
          </a:bodyPr>
          <a:lstStyle/>
          <a:p>
            <a:pPr>
              <a:spcAft>
                <a:spcPts val="1600"/>
              </a:spcAft>
              <a:defRPr sz="2000" b="0">
                <a:solidFill>
                  <a:srgbClr val="333333"/>
                </a:solidFill>
                <a:latin typeface="Calibri"/>
              </a:defRPr>
            </a:pPr>
            <a:r>
              <a:t>56,951 structures in Texas alone</a:t>
            </a:r>
          </a:p>
          <a:p>
            <a:pPr>
              <a:spcAft>
                <a:spcPts val="1600"/>
              </a:spcAft>
              <a:defRPr sz="2000" b="0">
                <a:solidFill>
                  <a:srgbClr val="333333"/>
                </a:solidFill>
                <a:latin typeface="Calibri"/>
              </a:defRPr>
            </a:pPr>
            <a:r>
              <a:t>Limited annual maintenance budgets</a:t>
            </a:r>
          </a:p>
          <a:p>
            <a:pPr>
              <a:spcAft>
                <a:spcPts val="1600"/>
              </a:spcAft>
              <a:defRPr sz="2000" b="0">
                <a:solidFill>
                  <a:srgbClr val="333333"/>
                </a:solidFill>
                <a:latin typeface="Calibri"/>
              </a:defRPr>
            </a:pPr>
            <a:r>
              <a:t>Condition ratings are necessary but insufficient</a:t>
            </a:r>
          </a:p>
          <a:p>
            <a:pPr>
              <a:spcAft>
                <a:spcPts val="1600"/>
              </a:spcAft>
              <a:defRPr sz="2000" b="0">
                <a:solidFill>
                  <a:srgbClr val="333333"/>
                </a:solidFill>
                <a:latin typeface="Calibri"/>
              </a:defRPr>
            </a:pPr>
            <a:r>
              <a:t>Age and traffic exposure amplify structural risk</a:t>
            </a:r>
          </a:p>
          <a:p>
            <a:pPr>
              <a:spcAft>
                <a:spcPts val="1600"/>
              </a:spcAft>
              <a:defRPr sz="2000" b="0">
                <a:solidFill>
                  <a:srgbClr val="333333"/>
                </a:solidFill>
                <a:latin typeface="Calibri"/>
              </a:defRPr>
            </a:pPr>
            <a:r>
              <a:t>Need: a composite metric for ranking</a:t>
            </a:r>
          </a:p>
        </p:txBody>
      </p:sp>
      <p:graphicFrame>
        <p:nvGraphicFramePr>
          <p:cNvPr id="5" name="Table 4"/>
          <p:cNvGraphicFramePr>
            <a:graphicFrameLocks noGrp="1"/>
          </p:cNvGraphicFramePr>
          <p:nvPr/>
        </p:nvGraphicFramePr>
        <p:xfrm>
          <a:off x="6217920" y="1463040"/>
          <a:ext cx="5669280" cy="2743200"/>
        </p:xfrm>
        <a:graphic>
          <a:graphicData uri="http://schemas.openxmlformats.org/drawingml/2006/table">
            <a:tbl>
              <a:tblPr firstRow="1" bandRow="1">
                <a:tableStyleId>{5C22544A-7EE6-4342-B048-85BDC9FD1C3A}</a:tableStyleId>
              </a:tblPr>
              <a:tblGrid>
                <a:gridCol w="1645920"/>
                <a:gridCol w="2194560"/>
                <a:gridCol w="1828800"/>
              </a:tblGrid>
              <a:tr h="548640">
                <a:tc>
                  <a:txBody>
                    <a:bodyPr/>
                    <a:lstStyle/>
                    <a:p>
                      <a:pPr>
                        <a:defRPr sz="1300" b="1">
                          <a:solidFill>
                            <a:srgbClr val="FFFFFF"/>
                          </a:solidFill>
                          <a:latin typeface="Calibri"/>
                        </a:defRPr>
                      </a:pPr>
                      <a:r>
                        <a:t>Metric</a:t>
                      </a:r>
                    </a:p>
                  </a:txBody>
                  <a:tcPr anchor="ctr">
                    <a:solidFill>
                      <a:srgbClr val="1B3A5C"/>
                    </a:solidFill>
                  </a:tcPr>
                </a:tc>
                <a:tc>
                  <a:txBody>
                    <a:bodyPr/>
                    <a:lstStyle/>
                    <a:p>
                      <a:pPr>
                        <a:defRPr sz="1300" b="1">
                          <a:solidFill>
                            <a:srgbClr val="FFFFFF"/>
                          </a:solidFill>
                          <a:latin typeface="Calibri"/>
                        </a:defRPr>
                      </a:pPr>
                      <a:r>
                        <a:t>What It Captures</a:t>
                      </a:r>
                    </a:p>
                  </a:txBody>
                  <a:tcPr anchor="ctr">
                    <a:solidFill>
                      <a:srgbClr val="1B3A5C"/>
                    </a:solidFill>
                  </a:tcPr>
                </a:tc>
                <a:tc>
                  <a:txBody>
                    <a:bodyPr/>
                    <a:lstStyle/>
                    <a:p>
                      <a:pPr>
                        <a:defRPr sz="1300" b="1">
                          <a:solidFill>
                            <a:srgbClr val="FFFFFF"/>
                          </a:solidFill>
                          <a:latin typeface="Calibri"/>
                        </a:defRPr>
                      </a:pPr>
                      <a:r>
                        <a:t>Limitation</a:t>
                      </a:r>
                    </a:p>
                  </a:txBody>
                  <a:tcPr anchor="ctr">
                    <a:solidFill>
                      <a:srgbClr val="1B3A5C"/>
                    </a:solidFill>
                  </a:tcPr>
                </a:tc>
              </a:tr>
              <a:tr h="548640">
                <a:tc>
                  <a:txBody>
                    <a:bodyPr/>
                    <a:lstStyle/>
                    <a:p>
                      <a:pPr>
                        <a:defRPr sz="1300">
                          <a:solidFill>
                            <a:srgbClr val="333333"/>
                          </a:solidFill>
                          <a:latin typeface="Calibri"/>
                        </a:defRPr>
                      </a:pPr>
                      <a:r>
                        <a:t>Condition rating</a:t>
                      </a:r>
                    </a:p>
                  </a:txBody>
                  <a:tcPr anchor="ctr"/>
                </a:tc>
                <a:tc>
                  <a:txBody>
                    <a:bodyPr/>
                    <a:lstStyle/>
                    <a:p>
                      <a:pPr>
                        <a:defRPr sz="1300">
                          <a:solidFill>
                            <a:srgbClr val="333333"/>
                          </a:solidFill>
                          <a:latin typeface="Calibri"/>
                        </a:defRPr>
                      </a:pPr>
                      <a:r>
                        <a:t>Current physical state</a:t>
                      </a:r>
                    </a:p>
                  </a:txBody>
                  <a:tcPr anchor="ctr"/>
                </a:tc>
                <a:tc>
                  <a:txBody>
                    <a:bodyPr/>
                    <a:lstStyle/>
                    <a:p>
                      <a:pPr>
                        <a:defRPr sz="1300">
                          <a:solidFill>
                            <a:srgbClr val="333333"/>
                          </a:solidFill>
                          <a:latin typeface="Calibri"/>
                        </a:defRPr>
                      </a:pPr>
                      <a:r>
                        <a:t>Snapshot; no trend</a:t>
                      </a:r>
                    </a:p>
                  </a:txBody>
                  <a:tcPr anchor="ctr"/>
                </a:tc>
              </a:tr>
              <a:tr h="548640">
                <a:tc>
                  <a:txBody>
                    <a:bodyPr/>
                    <a:lstStyle/>
                    <a:p>
                      <a:pPr>
                        <a:defRPr sz="1300">
                          <a:solidFill>
                            <a:srgbClr val="333333"/>
                          </a:solidFill>
                          <a:latin typeface="Calibri"/>
                        </a:defRPr>
                      </a:pPr>
                      <a:r>
                        <a:t>Bridge age</a:t>
                      </a:r>
                    </a:p>
                  </a:txBody>
                  <a:tcPr anchor="ctr">
                    <a:solidFill>
                      <a:srgbClr val="E8EEF4"/>
                    </a:solidFill>
                  </a:tcPr>
                </a:tc>
                <a:tc>
                  <a:txBody>
                    <a:bodyPr/>
                    <a:lstStyle/>
                    <a:p>
                      <a:pPr>
                        <a:defRPr sz="1300">
                          <a:solidFill>
                            <a:srgbClr val="333333"/>
                          </a:solidFill>
                          <a:latin typeface="Calibri"/>
                        </a:defRPr>
                      </a:pPr>
                      <a:r>
                        <a:t>Cumulative deterioration</a:t>
                      </a:r>
                    </a:p>
                  </a:txBody>
                  <a:tcPr anchor="ctr">
                    <a:solidFill>
                      <a:srgbClr val="E8EEF4"/>
                    </a:solidFill>
                  </a:tcPr>
                </a:tc>
                <a:tc>
                  <a:txBody>
                    <a:bodyPr/>
                    <a:lstStyle/>
                    <a:p>
                      <a:pPr>
                        <a:defRPr sz="1300">
                          <a:solidFill>
                            <a:srgbClr val="333333"/>
                          </a:solidFill>
                          <a:latin typeface="Calibri"/>
                        </a:defRPr>
                      </a:pPr>
                      <a:r>
                        <a:t>Ignores maintenance</a:t>
                      </a:r>
                    </a:p>
                  </a:txBody>
                  <a:tcPr anchor="ctr">
                    <a:solidFill>
                      <a:srgbClr val="E8EEF4"/>
                    </a:solidFill>
                  </a:tcPr>
                </a:tc>
              </a:tr>
              <a:tr h="548640">
                <a:tc>
                  <a:txBody>
                    <a:bodyPr/>
                    <a:lstStyle/>
                    <a:p>
                      <a:pPr>
                        <a:defRPr sz="1300">
                          <a:solidFill>
                            <a:srgbClr val="333333"/>
                          </a:solidFill>
                          <a:latin typeface="Calibri"/>
                        </a:defRPr>
                      </a:pPr>
                      <a:r>
                        <a:t>Traffic (ADT)</a:t>
                      </a:r>
                    </a:p>
                  </a:txBody>
                  <a:tcPr anchor="ctr"/>
                </a:tc>
                <a:tc>
                  <a:txBody>
                    <a:bodyPr/>
                    <a:lstStyle/>
                    <a:p>
                      <a:pPr>
                        <a:defRPr sz="1300">
                          <a:solidFill>
                            <a:srgbClr val="333333"/>
                          </a:solidFill>
                          <a:latin typeface="Calibri"/>
                        </a:defRPr>
                      </a:pPr>
                      <a:r>
                        <a:t>Loading &amp; consequences</a:t>
                      </a:r>
                    </a:p>
                  </a:txBody>
                  <a:tcPr anchor="ctr"/>
                </a:tc>
                <a:tc>
                  <a:txBody>
                    <a:bodyPr/>
                    <a:lstStyle/>
                    <a:p>
                      <a:pPr>
                        <a:defRPr sz="1300">
                          <a:solidFill>
                            <a:srgbClr val="333333"/>
                          </a:solidFill>
                          <a:latin typeface="Calibri"/>
                        </a:defRPr>
                      </a:pPr>
                      <a:r>
                        <a:t>Not structural</a:t>
                      </a:r>
                    </a:p>
                  </a:txBody>
                  <a:tcPr anchor="ctr"/>
                </a:tc>
              </a:tr>
              <a:tr h="548640">
                <a:tc>
                  <a:txBody>
                    <a:bodyPr/>
                    <a:lstStyle/>
                    <a:p>
                      <a:pPr>
                        <a:defRPr sz="1300">
                          <a:solidFill>
                            <a:srgbClr val="333333"/>
                          </a:solidFill>
                          <a:latin typeface="Calibri"/>
                        </a:defRPr>
                      </a:pPr>
                      <a:r>
                        <a:t>Composite score</a:t>
                      </a:r>
                    </a:p>
                  </a:txBody>
                  <a:tcPr anchor="ctr">
                    <a:solidFill>
                      <a:srgbClr val="E8EEF4"/>
                    </a:solidFill>
                  </a:tcPr>
                </a:tc>
                <a:tc>
                  <a:txBody>
                    <a:bodyPr/>
                    <a:lstStyle/>
                    <a:p>
                      <a:pPr>
                        <a:defRPr sz="1300">
                          <a:solidFill>
                            <a:srgbClr val="333333"/>
                          </a:solidFill>
                          <a:latin typeface="Calibri"/>
                        </a:defRPr>
                      </a:pPr>
                      <a:r>
                        <a:t>All three factors</a:t>
                      </a:r>
                    </a:p>
                  </a:txBody>
                  <a:tcPr anchor="ctr">
                    <a:solidFill>
                      <a:srgbClr val="E8EEF4"/>
                    </a:solidFill>
                  </a:tcPr>
                </a:tc>
                <a:tc>
                  <a:txBody>
                    <a:bodyPr/>
                    <a:lstStyle/>
                    <a:p>
                      <a:pPr>
                        <a:defRPr sz="1300">
                          <a:solidFill>
                            <a:srgbClr val="333333"/>
                          </a:solidFill>
                          <a:latin typeface="Calibri"/>
                        </a:defRPr>
                      </a:pPr>
                      <a:r>
                        <a:t>Weight selection</a:t>
                      </a:r>
                    </a:p>
                  </a:txBody>
                  <a:tcPr anchor="ctr">
                    <a:solidFill>
                      <a:srgbClr val="E8EEF4"/>
                    </a:solidFill>
                  </a:tcPr>
                </a:tc>
              </a:tr>
            </a:tbl>
          </a:graphicData>
        </a:graphic>
      </p:graphicFrame>
      <p:sp>
        <p:nvSpPr>
          <p:cNvPr id="6" name="TextBox 5"/>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Workshop Roadmap</a:t>
            </a:r>
          </a:p>
        </p:txBody>
      </p:sp>
      <p:sp>
        <p:nvSpPr>
          <p:cNvPr id="4" name="TextBox 3"/>
          <p:cNvSpPr txBox="1"/>
          <p:nvPr/>
        </p:nvSpPr>
        <p:spPr>
          <a:xfrm>
            <a:off x="731520" y="1463040"/>
            <a:ext cx="10515600" cy="4114800"/>
          </a:xfrm>
          <a:prstGeom prst="rect">
            <a:avLst/>
          </a:prstGeom>
          <a:noFill/>
        </p:spPr>
        <p:txBody>
          <a:bodyPr wrap="square">
            <a:spAutoFit/>
          </a:bodyPr>
          <a:lstStyle/>
          <a:p>
            <a:pPr>
              <a:spcAft>
                <a:spcPts val="1800"/>
              </a:spcAft>
              <a:defRPr sz="2200" b="0">
                <a:solidFill>
                  <a:srgbClr val="333333"/>
                </a:solidFill>
                <a:latin typeface="Calibri"/>
              </a:defRPr>
            </a:pPr>
            <a:r>
              <a:t>1.  Understand the NBI dataset and key variables</a:t>
            </a:r>
          </a:p>
          <a:p>
            <a:pPr>
              <a:spcAft>
                <a:spcPts val="1800"/>
              </a:spcAft>
              <a:defRPr sz="2200" b="0">
                <a:solidFill>
                  <a:srgbClr val="333333"/>
                </a:solidFill>
                <a:latin typeface="Calibri"/>
              </a:defRPr>
            </a:pPr>
            <a:r>
              <a:t>2.  Learn the three risk components: condition, age, traffic</a:t>
            </a:r>
          </a:p>
          <a:p>
            <a:pPr>
              <a:spcAft>
                <a:spcPts val="1800"/>
              </a:spcAft>
              <a:defRPr sz="2200" b="0">
                <a:solidFill>
                  <a:srgbClr val="333333"/>
                </a:solidFill>
                <a:latin typeface="Calibri"/>
              </a:defRPr>
            </a:pPr>
            <a:r>
              <a:t>3.  Compute a weighted composite risk score</a:t>
            </a:r>
          </a:p>
          <a:p>
            <a:pPr>
              <a:spcAft>
                <a:spcPts val="1800"/>
              </a:spcAft>
              <a:defRPr sz="2200" b="0">
                <a:solidFill>
                  <a:srgbClr val="333333"/>
                </a:solidFill>
                <a:latin typeface="Calibri"/>
              </a:defRPr>
            </a:pPr>
            <a:r>
              <a:t>4.  Classify bridges into risk tiers</a:t>
            </a:r>
          </a:p>
          <a:p>
            <a:pPr>
              <a:spcAft>
                <a:spcPts val="1800"/>
              </a:spcAft>
              <a:defRPr sz="2200" b="0">
                <a:solidFill>
                  <a:srgbClr val="333333"/>
                </a:solidFill>
                <a:latin typeface="Calibri"/>
              </a:defRPr>
            </a:pPr>
            <a:r>
              <a:t>5.  Interpret results: maps, distributions, and county patterns</a:t>
            </a:r>
          </a:p>
          <a:p>
            <a:pPr>
              <a:spcAft>
                <a:spcPts val="1800"/>
              </a:spcAft>
              <a:defRPr sz="2200" b="0">
                <a:solidFill>
                  <a:srgbClr val="333333"/>
                </a:solidFill>
                <a:latin typeface="Calibri"/>
              </a:defRPr>
            </a:pPr>
            <a:r>
              <a:t>6.  Explore interactively: adjust weights, compare scenarios</a:t>
            </a:r>
          </a:p>
        </p:txBody>
      </p:sp>
      <p:sp>
        <p:nvSpPr>
          <p:cNvPr id="5" name="TextBox 4"/>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The National Bridge Inventory</a:t>
            </a:r>
          </a:p>
        </p:txBody>
      </p:sp>
      <p:sp>
        <p:nvSpPr>
          <p:cNvPr id="4" name="TextBox 3"/>
          <p:cNvSpPr txBox="1"/>
          <p:nvPr/>
        </p:nvSpPr>
        <p:spPr>
          <a:xfrm>
            <a:off x="731520" y="1371600"/>
            <a:ext cx="5029200" cy="3200400"/>
          </a:xfrm>
          <a:prstGeom prst="rect">
            <a:avLst/>
          </a:prstGeom>
          <a:noFill/>
        </p:spPr>
        <p:txBody>
          <a:bodyPr wrap="square">
            <a:spAutoFit/>
          </a:bodyPr>
          <a:lstStyle/>
          <a:p>
            <a:pPr>
              <a:spcAft>
                <a:spcPts val="1200"/>
              </a:spcAft>
              <a:defRPr sz="1900" b="0">
                <a:solidFill>
                  <a:srgbClr val="333333"/>
                </a:solidFill>
                <a:latin typeface="Calibri"/>
              </a:defRPr>
            </a:pPr>
            <a:r>
              <a:t>Maintained by FHWA; updated annually</a:t>
            </a:r>
          </a:p>
          <a:p>
            <a:pPr>
              <a:spcAft>
                <a:spcPts val="1200"/>
              </a:spcAft>
              <a:defRPr sz="1900" b="0">
                <a:solidFill>
                  <a:srgbClr val="333333"/>
                </a:solidFill>
                <a:latin typeface="Calibri"/>
              </a:defRPr>
            </a:pPr>
            <a:r>
              <a:t>Every public highway bridge in the U.S.</a:t>
            </a:r>
          </a:p>
          <a:p>
            <a:pPr>
              <a:spcAft>
                <a:spcPts val="1200"/>
              </a:spcAft>
              <a:defRPr sz="1900" b="0">
                <a:solidFill>
                  <a:srgbClr val="333333"/>
                </a:solidFill>
                <a:latin typeface="Calibri"/>
              </a:defRPr>
            </a:pPr>
            <a:r>
              <a:t>123 columns per record</a:t>
            </a:r>
          </a:p>
          <a:p>
            <a:pPr>
              <a:spcAft>
                <a:spcPts val="1200"/>
              </a:spcAft>
              <a:defRPr sz="1900" b="0">
                <a:solidFill>
                  <a:srgbClr val="333333"/>
                </a:solidFill>
                <a:latin typeface="Calibri"/>
              </a:defRPr>
            </a:pPr>
            <a:r>
              <a:t>Texas 2025: 56,951 structures</a:t>
            </a:r>
          </a:p>
          <a:p>
            <a:pPr>
              <a:spcAft>
                <a:spcPts val="1200"/>
              </a:spcAft>
              <a:defRPr sz="1900" b="0">
                <a:solidFill>
                  <a:srgbClr val="333333"/>
                </a:solidFill>
                <a:latin typeface="Calibri"/>
              </a:defRPr>
            </a:pPr>
            <a:r>
              <a:t>Publicly available (open data)</a:t>
            </a:r>
          </a:p>
        </p:txBody>
      </p:sp>
      <p:graphicFrame>
        <p:nvGraphicFramePr>
          <p:cNvPr id="5" name="Table 4"/>
          <p:cNvGraphicFramePr>
            <a:graphicFrameLocks noGrp="1"/>
          </p:cNvGraphicFramePr>
          <p:nvPr/>
        </p:nvGraphicFramePr>
        <p:xfrm>
          <a:off x="6217920" y="1371600"/>
          <a:ext cx="5669280" cy="3657600"/>
        </p:xfrm>
        <a:graphic>
          <a:graphicData uri="http://schemas.openxmlformats.org/drawingml/2006/table">
            <a:tbl>
              <a:tblPr firstRow="1" bandRow="1">
                <a:tableStyleId>{5C22544A-7EE6-4342-B048-85BDC9FD1C3A}</a:tableStyleId>
              </a:tblPr>
              <a:tblGrid>
                <a:gridCol w="2560320"/>
                <a:gridCol w="2011680"/>
                <a:gridCol w="1097280"/>
              </a:tblGrid>
              <a:tr h="406400">
                <a:tc>
                  <a:txBody>
                    <a:bodyPr/>
                    <a:lstStyle/>
                    <a:p>
                      <a:pPr>
                        <a:defRPr sz="1300" b="1">
                          <a:solidFill>
                            <a:srgbClr val="FFFFFF"/>
                          </a:solidFill>
                          <a:latin typeface="Calibri"/>
                        </a:defRPr>
                      </a:pPr>
                      <a:r>
                        <a:t>NBI Column</a:t>
                      </a:r>
                    </a:p>
                  </a:txBody>
                  <a:tcPr anchor="ctr">
                    <a:solidFill>
                      <a:srgbClr val="1B3A5C"/>
                    </a:solidFill>
                  </a:tcPr>
                </a:tc>
                <a:tc>
                  <a:txBody>
                    <a:bodyPr/>
                    <a:lstStyle/>
                    <a:p>
                      <a:pPr>
                        <a:defRPr sz="1300" b="1">
                          <a:solidFill>
                            <a:srgbClr val="FFFFFF"/>
                          </a:solidFill>
                          <a:latin typeface="Calibri"/>
                        </a:defRPr>
                      </a:pPr>
                      <a:r>
                        <a:t>Description</a:t>
                      </a:r>
                    </a:p>
                  </a:txBody>
                  <a:tcPr anchor="ctr">
                    <a:solidFill>
                      <a:srgbClr val="1B3A5C"/>
                    </a:solidFill>
                  </a:tcPr>
                </a:tc>
                <a:tc>
                  <a:txBody>
                    <a:bodyPr/>
                    <a:lstStyle/>
                    <a:p>
                      <a:pPr>
                        <a:defRPr sz="1300" b="1">
                          <a:solidFill>
                            <a:srgbClr val="FFFFFF"/>
                          </a:solidFill>
                          <a:latin typeface="Calibri"/>
                        </a:defRPr>
                      </a:pPr>
                      <a:r>
                        <a:t>Type</a:t>
                      </a:r>
                    </a:p>
                  </a:txBody>
                  <a:tcPr anchor="ctr">
                    <a:solidFill>
                      <a:srgbClr val="1B3A5C"/>
                    </a:solidFill>
                  </a:tcPr>
                </a:tc>
              </a:tr>
              <a:tr h="406400">
                <a:tc>
                  <a:txBody>
                    <a:bodyPr/>
                    <a:lstStyle/>
                    <a:p>
                      <a:pPr>
                        <a:defRPr sz="1300">
                          <a:solidFill>
                            <a:srgbClr val="333333"/>
                          </a:solidFill>
                          <a:latin typeface="Calibri"/>
                        </a:defRPr>
                      </a:pPr>
                      <a:r>
                        <a:t>STRUCTURE_NUMBER_008</a:t>
                      </a:r>
                    </a:p>
                  </a:txBody>
                  <a:tcPr anchor="ctr"/>
                </a:tc>
                <a:tc>
                  <a:txBody>
                    <a:bodyPr/>
                    <a:lstStyle/>
                    <a:p>
                      <a:pPr>
                        <a:defRPr sz="1300">
                          <a:solidFill>
                            <a:srgbClr val="333333"/>
                          </a:solidFill>
                          <a:latin typeface="Calibri"/>
                        </a:defRPr>
                      </a:pPr>
                      <a:r>
                        <a:t>Unique bridge ID</a:t>
                      </a:r>
                    </a:p>
                  </a:txBody>
                  <a:tcPr anchor="ctr"/>
                </a:tc>
                <a:tc>
                  <a:txBody>
                    <a:bodyPr/>
                    <a:lstStyle/>
                    <a:p>
                      <a:pPr>
                        <a:defRPr sz="1300">
                          <a:solidFill>
                            <a:srgbClr val="333333"/>
                          </a:solidFill>
                          <a:latin typeface="Calibri"/>
                        </a:defRPr>
                      </a:pPr>
                      <a:r>
                        <a:t>String</a:t>
                      </a:r>
                    </a:p>
                  </a:txBody>
                  <a:tcPr anchor="ctr"/>
                </a:tc>
              </a:tr>
              <a:tr h="406400">
                <a:tc>
                  <a:txBody>
                    <a:bodyPr/>
                    <a:lstStyle/>
                    <a:p>
                      <a:pPr>
                        <a:defRPr sz="1300">
                          <a:solidFill>
                            <a:srgbClr val="333333"/>
                          </a:solidFill>
                          <a:latin typeface="Calibri"/>
                        </a:defRPr>
                      </a:pPr>
                      <a:r>
                        <a:t>DECK_COND_058</a:t>
                      </a:r>
                    </a:p>
                  </a:txBody>
                  <a:tcPr anchor="ctr">
                    <a:solidFill>
                      <a:srgbClr val="E8EEF4"/>
                    </a:solidFill>
                  </a:tcPr>
                </a:tc>
                <a:tc>
                  <a:txBody>
                    <a:bodyPr/>
                    <a:lstStyle/>
                    <a:p>
                      <a:pPr>
                        <a:defRPr sz="1300">
                          <a:solidFill>
                            <a:srgbClr val="333333"/>
                          </a:solidFill>
                          <a:latin typeface="Calibri"/>
                        </a:defRPr>
                      </a:pPr>
                      <a:r>
                        <a:t>Deck condition (0-9)</a:t>
                      </a:r>
                    </a:p>
                  </a:txBody>
                  <a:tcPr anchor="ctr">
                    <a:solidFill>
                      <a:srgbClr val="E8EEF4"/>
                    </a:solidFill>
                  </a:tcPr>
                </a:tc>
                <a:tc>
                  <a:txBody>
                    <a:bodyPr/>
                    <a:lstStyle/>
                    <a:p>
                      <a:pPr>
                        <a:defRPr sz="1300">
                          <a:solidFill>
                            <a:srgbClr val="333333"/>
                          </a:solidFill>
                          <a:latin typeface="Calibri"/>
                        </a:defRPr>
                      </a:pPr>
                      <a:r>
                        <a:t>Integer</a:t>
                      </a:r>
                    </a:p>
                  </a:txBody>
                  <a:tcPr anchor="ctr">
                    <a:solidFill>
                      <a:srgbClr val="E8EEF4"/>
                    </a:solidFill>
                  </a:tcPr>
                </a:tc>
              </a:tr>
              <a:tr h="406400">
                <a:tc>
                  <a:txBody>
                    <a:bodyPr/>
                    <a:lstStyle/>
                    <a:p>
                      <a:pPr>
                        <a:defRPr sz="1300">
                          <a:solidFill>
                            <a:srgbClr val="333333"/>
                          </a:solidFill>
                          <a:latin typeface="Calibri"/>
                        </a:defRPr>
                      </a:pPr>
                      <a:r>
                        <a:t>SUPERSTRUCTURE_COND_059</a:t>
                      </a:r>
                    </a:p>
                  </a:txBody>
                  <a:tcPr anchor="ctr"/>
                </a:tc>
                <a:tc>
                  <a:txBody>
                    <a:bodyPr/>
                    <a:lstStyle/>
                    <a:p>
                      <a:pPr>
                        <a:defRPr sz="1300">
                          <a:solidFill>
                            <a:srgbClr val="333333"/>
                          </a:solidFill>
                          <a:latin typeface="Calibri"/>
                        </a:defRPr>
                      </a:pPr>
                      <a:r>
                        <a:t>Superstructure condition</a:t>
                      </a:r>
                    </a:p>
                  </a:txBody>
                  <a:tcPr anchor="ctr"/>
                </a:tc>
                <a:tc>
                  <a:txBody>
                    <a:bodyPr/>
                    <a:lstStyle/>
                    <a:p>
                      <a:pPr>
                        <a:defRPr sz="1300">
                          <a:solidFill>
                            <a:srgbClr val="333333"/>
                          </a:solidFill>
                          <a:latin typeface="Calibri"/>
                        </a:defRPr>
                      </a:pPr>
                      <a:r>
                        <a:t>Integer</a:t>
                      </a:r>
                    </a:p>
                  </a:txBody>
                  <a:tcPr anchor="ctr"/>
                </a:tc>
              </a:tr>
              <a:tr h="406400">
                <a:tc>
                  <a:txBody>
                    <a:bodyPr/>
                    <a:lstStyle/>
                    <a:p>
                      <a:pPr>
                        <a:defRPr sz="1300">
                          <a:solidFill>
                            <a:srgbClr val="333333"/>
                          </a:solidFill>
                          <a:latin typeface="Calibri"/>
                        </a:defRPr>
                      </a:pPr>
                      <a:r>
                        <a:t>SUBSTRUCTURE_COND_060</a:t>
                      </a:r>
                    </a:p>
                  </a:txBody>
                  <a:tcPr anchor="ctr">
                    <a:solidFill>
                      <a:srgbClr val="E8EEF4"/>
                    </a:solidFill>
                  </a:tcPr>
                </a:tc>
                <a:tc>
                  <a:txBody>
                    <a:bodyPr/>
                    <a:lstStyle/>
                    <a:p>
                      <a:pPr>
                        <a:defRPr sz="1300">
                          <a:solidFill>
                            <a:srgbClr val="333333"/>
                          </a:solidFill>
                          <a:latin typeface="Calibri"/>
                        </a:defRPr>
                      </a:pPr>
                      <a:r>
                        <a:t>Substructure condition</a:t>
                      </a:r>
                    </a:p>
                  </a:txBody>
                  <a:tcPr anchor="ctr">
                    <a:solidFill>
                      <a:srgbClr val="E8EEF4"/>
                    </a:solidFill>
                  </a:tcPr>
                </a:tc>
                <a:tc>
                  <a:txBody>
                    <a:bodyPr/>
                    <a:lstStyle/>
                    <a:p>
                      <a:pPr>
                        <a:defRPr sz="1300">
                          <a:solidFill>
                            <a:srgbClr val="333333"/>
                          </a:solidFill>
                          <a:latin typeface="Calibri"/>
                        </a:defRPr>
                      </a:pPr>
                      <a:r>
                        <a:t>Integer</a:t>
                      </a:r>
                    </a:p>
                  </a:txBody>
                  <a:tcPr anchor="ctr">
                    <a:solidFill>
                      <a:srgbClr val="E8EEF4"/>
                    </a:solidFill>
                  </a:tcPr>
                </a:tc>
              </a:tr>
              <a:tr h="406400">
                <a:tc>
                  <a:txBody>
                    <a:bodyPr/>
                    <a:lstStyle/>
                    <a:p>
                      <a:pPr>
                        <a:defRPr sz="1300">
                          <a:solidFill>
                            <a:srgbClr val="333333"/>
                          </a:solidFill>
                          <a:latin typeface="Calibri"/>
                        </a:defRPr>
                      </a:pPr>
                      <a:r>
                        <a:t>CULVERT_COND_062</a:t>
                      </a:r>
                    </a:p>
                  </a:txBody>
                  <a:tcPr anchor="ctr"/>
                </a:tc>
                <a:tc>
                  <a:txBody>
                    <a:bodyPr/>
                    <a:lstStyle/>
                    <a:p>
                      <a:pPr>
                        <a:defRPr sz="1300">
                          <a:solidFill>
                            <a:srgbClr val="333333"/>
                          </a:solidFill>
                          <a:latin typeface="Calibri"/>
                        </a:defRPr>
                      </a:pPr>
                      <a:r>
                        <a:t>Culvert condition</a:t>
                      </a:r>
                    </a:p>
                  </a:txBody>
                  <a:tcPr anchor="ctr"/>
                </a:tc>
                <a:tc>
                  <a:txBody>
                    <a:bodyPr/>
                    <a:lstStyle/>
                    <a:p>
                      <a:pPr>
                        <a:defRPr sz="1300">
                          <a:solidFill>
                            <a:srgbClr val="333333"/>
                          </a:solidFill>
                          <a:latin typeface="Calibri"/>
                        </a:defRPr>
                      </a:pPr>
                      <a:r>
                        <a:t>Integer</a:t>
                      </a:r>
                    </a:p>
                  </a:txBody>
                  <a:tcPr anchor="ctr"/>
                </a:tc>
              </a:tr>
              <a:tr h="406400">
                <a:tc>
                  <a:txBody>
                    <a:bodyPr/>
                    <a:lstStyle/>
                    <a:p>
                      <a:pPr>
                        <a:defRPr sz="1300">
                          <a:solidFill>
                            <a:srgbClr val="333333"/>
                          </a:solidFill>
                          <a:latin typeface="Calibri"/>
                        </a:defRPr>
                      </a:pPr>
                      <a:r>
                        <a:t>YEAR_BUILT_027</a:t>
                      </a:r>
                    </a:p>
                  </a:txBody>
                  <a:tcPr anchor="ctr">
                    <a:solidFill>
                      <a:srgbClr val="E8EEF4"/>
                    </a:solidFill>
                  </a:tcPr>
                </a:tc>
                <a:tc>
                  <a:txBody>
                    <a:bodyPr/>
                    <a:lstStyle/>
                    <a:p>
                      <a:pPr>
                        <a:defRPr sz="1300">
                          <a:solidFill>
                            <a:srgbClr val="333333"/>
                          </a:solidFill>
                          <a:latin typeface="Calibri"/>
                        </a:defRPr>
                      </a:pPr>
                      <a:r>
                        <a:t>Year of construction</a:t>
                      </a:r>
                    </a:p>
                  </a:txBody>
                  <a:tcPr anchor="ctr">
                    <a:solidFill>
                      <a:srgbClr val="E8EEF4"/>
                    </a:solidFill>
                  </a:tcPr>
                </a:tc>
                <a:tc>
                  <a:txBody>
                    <a:bodyPr/>
                    <a:lstStyle/>
                    <a:p>
                      <a:pPr>
                        <a:defRPr sz="1300">
                          <a:solidFill>
                            <a:srgbClr val="333333"/>
                          </a:solidFill>
                          <a:latin typeface="Calibri"/>
                        </a:defRPr>
                      </a:pPr>
                      <a:r>
                        <a:t>Integer</a:t>
                      </a:r>
                    </a:p>
                  </a:txBody>
                  <a:tcPr anchor="ctr">
                    <a:solidFill>
                      <a:srgbClr val="E8EEF4"/>
                    </a:solidFill>
                  </a:tcPr>
                </a:tc>
              </a:tr>
              <a:tr h="406400">
                <a:tc>
                  <a:txBody>
                    <a:bodyPr/>
                    <a:lstStyle/>
                    <a:p>
                      <a:pPr>
                        <a:defRPr sz="1300">
                          <a:solidFill>
                            <a:srgbClr val="333333"/>
                          </a:solidFill>
                          <a:latin typeface="Calibri"/>
                        </a:defRPr>
                      </a:pPr>
                      <a:r>
                        <a:t>ADT_029</a:t>
                      </a:r>
                    </a:p>
                  </a:txBody>
                  <a:tcPr anchor="ctr"/>
                </a:tc>
                <a:tc>
                  <a:txBody>
                    <a:bodyPr/>
                    <a:lstStyle/>
                    <a:p>
                      <a:pPr>
                        <a:defRPr sz="1300">
                          <a:solidFill>
                            <a:srgbClr val="333333"/>
                          </a:solidFill>
                          <a:latin typeface="Calibri"/>
                        </a:defRPr>
                      </a:pPr>
                      <a:r>
                        <a:t>Average daily traffic</a:t>
                      </a:r>
                    </a:p>
                  </a:txBody>
                  <a:tcPr anchor="ctr"/>
                </a:tc>
                <a:tc>
                  <a:txBody>
                    <a:bodyPr/>
                    <a:lstStyle/>
                    <a:p>
                      <a:pPr>
                        <a:defRPr sz="1300">
                          <a:solidFill>
                            <a:srgbClr val="333333"/>
                          </a:solidFill>
                          <a:latin typeface="Calibri"/>
                        </a:defRPr>
                      </a:pPr>
                      <a:r>
                        <a:t>Integer</a:t>
                      </a:r>
                    </a:p>
                  </a:txBody>
                  <a:tcPr anchor="ctr"/>
                </a:tc>
              </a:tr>
              <a:tr h="406400">
                <a:tc>
                  <a:txBody>
                    <a:bodyPr/>
                    <a:lstStyle/>
                    <a:p>
                      <a:pPr>
                        <a:defRPr sz="1300">
                          <a:solidFill>
                            <a:srgbClr val="333333"/>
                          </a:solidFill>
                          <a:latin typeface="Calibri"/>
                        </a:defRPr>
                      </a:pPr>
                      <a:r>
                        <a:t>LAT_016 / LONG_017</a:t>
                      </a:r>
                    </a:p>
                  </a:txBody>
                  <a:tcPr anchor="ctr">
                    <a:solidFill>
                      <a:srgbClr val="E8EEF4"/>
                    </a:solidFill>
                  </a:tcPr>
                </a:tc>
                <a:tc>
                  <a:txBody>
                    <a:bodyPr/>
                    <a:lstStyle/>
                    <a:p>
                      <a:pPr>
                        <a:defRPr sz="1300">
                          <a:solidFill>
                            <a:srgbClr val="333333"/>
                          </a:solidFill>
                          <a:latin typeface="Calibri"/>
                        </a:defRPr>
                      </a:pPr>
                      <a:r>
                        <a:t>Coordinates (DDMMSSCC)</a:t>
                      </a:r>
                    </a:p>
                  </a:txBody>
                  <a:tcPr anchor="ctr">
                    <a:solidFill>
                      <a:srgbClr val="E8EEF4"/>
                    </a:solidFill>
                  </a:tcPr>
                </a:tc>
                <a:tc>
                  <a:txBody>
                    <a:bodyPr/>
                    <a:lstStyle/>
                    <a:p>
                      <a:pPr>
                        <a:defRPr sz="1300">
                          <a:solidFill>
                            <a:srgbClr val="333333"/>
                          </a:solidFill>
                          <a:latin typeface="Calibri"/>
                        </a:defRPr>
                      </a:pPr>
                      <a:r>
                        <a:t>Packed int</a:t>
                      </a:r>
                    </a:p>
                  </a:txBody>
                  <a:tcPr anchor="ctr">
                    <a:solidFill>
                      <a:srgbClr val="E8EEF4"/>
                    </a:solidFill>
                  </a:tcPr>
                </a:tc>
              </a:tr>
            </a:tbl>
          </a:graphicData>
        </a:graphic>
      </p:graphicFrame>
      <p:sp>
        <p:nvSpPr>
          <p:cNvPr id="6" name="TextBox 5"/>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Risk Component 1: Structural Condition</a:t>
            </a:r>
          </a:p>
        </p:txBody>
      </p:sp>
      <p:sp>
        <p:nvSpPr>
          <p:cNvPr id="4" name="Rectangle 3"/>
          <p:cNvSpPr/>
          <p:nvPr/>
        </p:nvSpPr>
        <p:spPr>
          <a:xfrm>
            <a:off x="731520" y="1371600"/>
            <a:ext cx="1069848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10058400" cy="822960"/>
          </a:xfrm>
          <a:prstGeom prst="rect">
            <a:avLst/>
          </a:prstGeom>
          <a:noFill/>
        </p:spPr>
        <p:txBody>
          <a:bodyPr wrap="square">
            <a:spAutoFit/>
          </a:bodyPr>
          <a:lstStyle/>
          <a:p>
            <a:pPr algn="ctr">
              <a:defRPr sz="2600" b="1">
                <a:solidFill>
                  <a:srgbClr val="1B3A5C"/>
                </a:solidFill>
                <a:latin typeface="Consolas"/>
              </a:defRPr>
            </a:pPr>
            <a:r>
              <a:t>condition_risk  =  ( 9  -  min_rating )  /  9</a:t>
            </a:r>
          </a:p>
        </p:txBody>
      </p:sp>
      <p:sp>
        <p:nvSpPr>
          <p:cNvPr id="6" name="TextBox 5"/>
          <p:cNvSpPr txBox="1"/>
          <p:nvPr/>
        </p:nvSpPr>
        <p:spPr>
          <a:xfrm>
            <a:off x="731520" y="2743200"/>
            <a:ext cx="5029200" cy="2743200"/>
          </a:xfrm>
          <a:prstGeom prst="rect">
            <a:avLst/>
          </a:prstGeom>
          <a:noFill/>
        </p:spPr>
        <p:txBody>
          <a:bodyPr wrap="square">
            <a:spAutoFit/>
          </a:bodyPr>
          <a:lstStyle/>
          <a:p>
            <a:pPr>
              <a:spcAft>
                <a:spcPts val="1200"/>
              </a:spcAft>
              <a:defRPr sz="1800" b="0">
                <a:solidFill>
                  <a:srgbClr val="333333"/>
                </a:solidFill>
                <a:latin typeface="Calibri"/>
              </a:defRPr>
            </a:pPr>
            <a:r>
              <a:t>min_rating = minimum of deck, super, sub, culvert</a:t>
            </a:r>
          </a:p>
          <a:p>
            <a:pPr>
              <a:spcAft>
                <a:spcPts val="1200"/>
              </a:spcAft>
              <a:defRPr sz="1800" b="0">
                <a:solidFill>
                  <a:srgbClr val="333333"/>
                </a:solidFill>
                <a:latin typeface="Calibri"/>
              </a:defRPr>
            </a:pPr>
            <a:r>
              <a:t>Inverted scale: rating 9 -&gt; risk 0.0 (best)</a:t>
            </a:r>
          </a:p>
          <a:p>
            <a:pPr>
              <a:spcAft>
                <a:spcPts val="1200"/>
              </a:spcAft>
              <a:defRPr sz="1800" b="0">
                <a:solidFill>
                  <a:srgbClr val="333333"/>
                </a:solidFill>
                <a:latin typeface="Calibri"/>
              </a:defRPr>
            </a:pPr>
            <a:r>
              <a:t>Rating 0 -&gt; risk 1.0 (worst / failed)</a:t>
            </a:r>
          </a:p>
          <a:p>
            <a:pPr>
              <a:spcAft>
                <a:spcPts val="1200"/>
              </a:spcAft>
              <a:defRPr sz="1800" b="0">
                <a:solidFill>
                  <a:srgbClr val="333333"/>
                </a:solidFill>
                <a:latin typeface="Calibri"/>
              </a:defRPr>
            </a:pPr>
            <a:r>
              <a:t>'N' values (not applicable) treated as NaN</a:t>
            </a:r>
          </a:p>
        </p:txBody>
      </p:sp>
      <p:graphicFrame>
        <p:nvGraphicFramePr>
          <p:cNvPr id="7" name="Table 6"/>
          <p:cNvGraphicFramePr>
            <a:graphicFrameLocks noGrp="1"/>
          </p:cNvGraphicFramePr>
          <p:nvPr/>
        </p:nvGraphicFramePr>
        <p:xfrm>
          <a:off x="6583680" y="2743200"/>
          <a:ext cx="5029200" cy="2743200"/>
        </p:xfrm>
        <a:graphic>
          <a:graphicData uri="http://schemas.openxmlformats.org/drawingml/2006/table">
            <a:tbl>
              <a:tblPr firstRow="1" bandRow="1">
                <a:tableStyleId>{5C22544A-7EE6-4342-B048-85BDC9FD1C3A}</a:tableStyleId>
              </a:tblPr>
              <a:tblGrid>
                <a:gridCol w="914400"/>
                <a:gridCol w="2560320"/>
                <a:gridCol w="1554480"/>
              </a:tblGrid>
              <a:tr h="391885">
                <a:tc>
                  <a:txBody>
                    <a:bodyPr/>
                    <a:lstStyle/>
                    <a:p>
                      <a:pPr>
                        <a:defRPr sz="1300" b="1">
                          <a:solidFill>
                            <a:srgbClr val="FFFFFF"/>
                          </a:solidFill>
                          <a:latin typeface="Calibri"/>
                        </a:defRPr>
                      </a:pPr>
                      <a:r>
                        <a:t>Rating</a:t>
                      </a:r>
                    </a:p>
                  </a:txBody>
                  <a:tcPr anchor="ctr">
                    <a:solidFill>
                      <a:srgbClr val="1B3A5C"/>
                    </a:solidFill>
                  </a:tcPr>
                </a:tc>
                <a:tc>
                  <a:txBody>
                    <a:bodyPr/>
                    <a:lstStyle/>
                    <a:p>
                      <a:pPr>
                        <a:defRPr sz="1300" b="1">
                          <a:solidFill>
                            <a:srgbClr val="FFFFFF"/>
                          </a:solidFill>
                          <a:latin typeface="Calibri"/>
                        </a:defRPr>
                      </a:pPr>
                      <a:r>
                        <a:t>Meaning</a:t>
                      </a:r>
                    </a:p>
                  </a:txBody>
                  <a:tcPr anchor="ctr">
                    <a:solidFill>
                      <a:srgbClr val="1B3A5C"/>
                    </a:solidFill>
                  </a:tcPr>
                </a:tc>
                <a:tc>
                  <a:txBody>
                    <a:bodyPr/>
                    <a:lstStyle/>
                    <a:p>
                      <a:pPr>
                        <a:defRPr sz="1300" b="1">
                          <a:solidFill>
                            <a:srgbClr val="FFFFFF"/>
                          </a:solidFill>
                          <a:latin typeface="Calibri"/>
                        </a:defRPr>
                      </a:pPr>
                      <a:r>
                        <a:t>Risk</a:t>
                      </a:r>
                    </a:p>
                  </a:txBody>
                  <a:tcPr anchor="ctr">
                    <a:solidFill>
                      <a:srgbClr val="1B3A5C"/>
                    </a:solidFill>
                  </a:tcPr>
                </a:tc>
              </a:tr>
              <a:tr h="391885">
                <a:tc>
                  <a:txBody>
                    <a:bodyPr/>
                    <a:lstStyle/>
                    <a:p>
                      <a:pPr>
                        <a:defRPr sz="1300">
                          <a:solidFill>
                            <a:srgbClr val="333333"/>
                          </a:solidFill>
                          <a:latin typeface="Calibri"/>
                        </a:defRPr>
                      </a:pPr>
                      <a:r>
                        <a:t>9</a:t>
                      </a:r>
                    </a:p>
                  </a:txBody>
                  <a:tcPr anchor="ctr"/>
                </a:tc>
                <a:tc>
                  <a:txBody>
                    <a:bodyPr/>
                    <a:lstStyle/>
                    <a:p>
                      <a:pPr>
                        <a:defRPr sz="1300">
                          <a:solidFill>
                            <a:srgbClr val="333333"/>
                          </a:solidFill>
                          <a:latin typeface="Calibri"/>
                        </a:defRPr>
                      </a:pPr>
                      <a:r>
                        <a:t>Excellent</a:t>
                      </a:r>
                    </a:p>
                  </a:txBody>
                  <a:tcPr anchor="ctr"/>
                </a:tc>
                <a:tc>
                  <a:txBody>
                    <a:bodyPr/>
                    <a:lstStyle/>
                    <a:p>
                      <a:pPr>
                        <a:defRPr sz="1300">
                          <a:solidFill>
                            <a:srgbClr val="333333"/>
                          </a:solidFill>
                          <a:latin typeface="Calibri"/>
                        </a:defRPr>
                      </a:pPr>
                      <a:r>
                        <a:t>0.00</a:t>
                      </a:r>
                    </a:p>
                  </a:txBody>
                  <a:tcPr anchor="ctr"/>
                </a:tc>
              </a:tr>
              <a:tr h="391885">
                <a:tc>
                  <a:txBody>
                    <a:bodyPr/>
                    <a:lstStyle/>
                    <a:p>
                      <a:pPr>
                        <a:defRPr sz="1300">
                          <a:solidFill>
                            <a:srgbClr val="333333"/>
                          </a:solidFill>
                          <a:latin typeface="Calibri"/>
                        </a:defRPr>
                      </a:pPr>
                      <a:r>
                        <a:t>7</a:t>
                      </a:r>
                    </a:p>
                  </a:txBody>
                  <a:tcPr anchor="ctr">
                    <a:solidFill>
                      <a:srgbClr val="E8EEF4"/>
                    </a:solidFill>
                  </a:tcPr>
                </a:tc>
                <a:tc>
                  <a:txBody>
                    <a:bodyPr/>
                    <a:lstStyle/>
                    <a:p>
                      <a:pPr>
                        <a:defRPr sz="1300">
                          <a:solidFill>
                            <a:srgbClr val="333333"/>
                          </a:solidFill>
                          <a:latin typeface="Calibri"/>
                        </a:defRPr>
                      </a:pPr>
                      <a:r>
                        <a:t>Good</a:t>
                      </a:r>
                    </a:p>
                  </a:txBody>
                  <a:tcPr anchor="ctr">
                    <a:solidFill>
                      <a:srgbClr val="E8EEF4"/>
                    </a:solidFill>
                  </a:tcPr>
                </a:tc>
                <a:tc>
                  <a:txBody>
                    <a:bodyPr/>
                    <a:lstStyle/>
                    <a:p>
                      <a:pPr>
                        <a:defRPr sz="1300">
                          <a:solidFill>
                            <a:srgbClr val="333333"/>
                          </a:solidFill>
                          <a:latin typeface="Calibri"/>
                        </a:defRPr>
                      </a:pPr>
                      <a:r>
                        <a:t>0.22</a:t>
                      </a:r>
                    </a:p>
                  </a:txBody>
                  <a:tcPr anchor="ctr">
                    <a:solidFill>
                      <a:srgbClr val="E8EEF4"/>
                    </a:solidFill>
                  </a:tcPr>
                </a:tc>
              </a:tr>
              <a:tr h="391885">
                <a:tc>
                  <a:txBody>
                    <a:bodyPr/>
                    <a:lstStyle/>
                    <a:p>
                      <a:pPr>
                        <a:defRPr sz="1300">
                          <a:solidFill>
                            <a:srgbClr val="333333"/>
                          </a:solidFill>
                          <a:latin typeface="Calibri"/>
                        </a:defRPr>
                      </a:pPr>
                      <a:r>
                        <a:t>5</a:t>
                      </a:r>
                    </a:p>
                  </a:txBody>
                  <a:tcPr anchor="ctr"/>
                </a:tc>
                <a:tc>
                  <a:txBody>
                    <a:bodyPr/>
                    <a:lstStyle/>
                    <a:p>
                      <a:pPr>
                        <a:defRPr sz="1300">
                          <a:solidFill>
                            <a:srgbClr val="333333"/>
                          </a:solidFill>
                          <a:latin typeface="Calibri"/>
                        </a:defRPr>
                      </a:pPr>
                      <a:r>
                        <a:t>Fair</a:t>
                      </a:r>
                    </a:p>
                  </a:txBody>
                  <a:tcPr anchor="ctr"/>
                </a:tc>
                <a:tc>
                  <a:txBody>
                    <a:bodyPr/>
                    <a:lstStyle/>
                    <a:p>
                      <a:pPr>
                        <a:defRPr sz="1300">
                          <a:solidFill>
                            <a:srgbClr val="333333"/>
                          </a:solidFill>
                          <a:latin typeface="Calibri"/>
                        </a:defRPr>
                      </a:pPr>
                      <a:r>
                        <a:t>0.44</a:t>
                      </a:r>
                    </a:p>
                  </a:txBody>
                  <a:tcPr anchor="ctr"/>
                </a:tc>
              </a:tr>
              <a:tr h="391885">
                <a:tc>
                  <a:txBody>
                    <a:bodyPr/>
                    <a:lstStyle/>
                    <a:p>
                      <a:pPr>
                        <a:defRPr sz="1300">
                          <a:solidFill>
                            <a:srgbClr val="333333"/>
                          </a:solidFill>
                          <a:latin typeface="Calibri"/>
                        </a:defRPr>
                      </a:pPr>
                      <a:r>
                        <a:t>4</a:t>
                      </a:r>
                    </a:p>
                  </a:txBody>
                  <a:tcPr anchor="ctr">
                    <a:solidFill>
                      <a:srgbClr val="E8EEF4"/>
                    </a:solidFill>
                  </a:tcPr>
                </a:tc>
                <a:tc>
                  <a:txBody>
                    <a:bodyPr/>
                    <a:lstStyle/>
                    <a:p>
                      <a:pPr>
                        <a:defRPr sz="1300">
                          <a:solidFill>
                            <a:srgbClr val="333333"/>
                          </a:solidFill>
                          <a:latin typeface="Calibri"/>
                        </a:defRPr>
                      </a:pPr>
                      <a:r>
                        <a:t>Poor (FHWA threshold)</a:t>
                      </a:r>
                    </a:p>
                  </a:txBody>
                  <a:tcPr anchor="ctr">
                    <a:solidFill>
                      <a:srgbClr val="E8EEF4"/>
                    </a:solidFill>
                  </a:tcPr>
                </a:tc>
                <a:tc>
                  <a:txBody>
                    <a:bodyPr/>
                    <a:lstStyle/>
                    <a:p>
                      <a:pPr>
                        <a:defRPr sz="1300">
                          <a:solidFill>
                            <a:srgbClr val="333333"/>
                          </a:solidFill>
                          <a:latin typeface="Calibri"/>
                        </a:defRPr>
                      </a:pPr>
                      <a:r>
                        <a:t>0.56</a:t>
                      </a:r>
                    </a:p>
                  </a:txBody>
                  <a:tcPr anchor="ctr">
                    <a:solidFill>
                      <a:srgbClr val="E8EEF4"/>
                    </a:solidFill>
                  </a:tcPr>
                </a:tc>
              </a:tr>
              <a:tr h="391885">
                <a:tc>
                  <a:txBody>
                    <a:bodyPr/>
                    <a:lstStyle/>
                    <a:p>
                      <a:pPr>
                        <a:defRPr sz="1300">
                          <a:solidFill>
                            <a:srgbClr val="333333"/>
                          </a:solidFill>
                          <a:latin typeface="Calibri"/>
                        </a:defRPr>
                      </a:pPr>
                      <a:r>
                        <a:t>2</a:t>
                      </a:r>
                    </a:p>
                  </a:txBody>
                  <a:tcPr anchor="ctr"/>
                </a:tc>
                <a:tc>
                  <a:txBody>
                    <a:bodyPr/>
                    <a:lstStyle/>
                    <a:p>
                      <a:pPr>
                        <a:defRPr sz="1300">
                          <a:solidFill>
                            <a:srgbClr val="333333"/>
                          </a:solidFill>
                          <a:latin typeface="Calibri"/>
                        </a:defRPr>
                      </a:pPr>
                      <a:r>
                        <a:t>Critical</a:t>
                      </a:r>
                    </a:p>
                  </a:txBody>
                  <a:tcPr anchor="ctr"/>
                </a:tc>
                <a:tc>
                  <a:txBody>
                    <a:bodyPr/>
                    <a:lstStyle/>
                    <a:p>
                      <a:pPr>
                        <a:defRPr sz="1300">
                          <a:solidFill>
                            <a:srgbClr val="333333"/>
                          </a:solidFill>
                          <a:latin typeface="Calibri"/>
                        </a:defRPr>
                      </a:pPr>
                      <a:r>
                        <a:t>0.78</a:t>
                      </a:r>
                    </a:p>
                  </a:txBody>
                  <a:tcPr anchor="ctr"/>
                </a:tc>
              </a:tr>
              <a:tr h="391890">
                <a:tc>
                  <a:txBody>
                    <a:bodyPr/>
                    <a:lstStyle/>
                    <a:p>
                      <a:pPr>
                        <a:defRPr sz="1300">
                          <a:solidFill>
                            <a:srgbClr val="333333"/>
                          </a:solidFill>
                          <a:latin typeface="Calibri"/>
                        </a:defRPr>
                      </a:pPr>
                      <a:r>
                        <a:t>0</a:t>
                      </a:r>
                    </a:p>
                  </a:txBody>
                  <a:tcPr anchor="ctr">
                    <a:solidFill>
                      <a:srgbClr val="E8EEF4"/>
                    </a:solidFill>
                  </a:tcPr>
                </a:tc>
                <a:tc>
                  <a:txBody>
                    <a:bodyPr/>
                    <a:lstStyle/>
                    <a:p>
                      <a:pPr>
                        <a:defRPr sz="1300">
                          <a:solidFill>
                            <a:srgbClr val="333333"/>
                          </a:solidFill>
                          <a:latin typeface="Calibri"/>
                        </a:defRPr>
                      </a:pPr>
                      <a:r>
                        <a:t>Failed</a:t>
                      </a:r>
                    </a:p>
                  </a:txBody>
                  <a:tcPr anchor="ctr">
                    <a:solidFill>
                      <a:srgbClr val="E8EEF4"/>
                    </a:solidFill>
                  </a:tcPr>
                </a:tc>
                <a:tc>
                  <a:txBody>
                    <a:bodyPr/>
                    <a:lstStyle/>
                    <a:p>
                      <a:pPr>
                        <a:defRPr sz="1300">
                          <a:solidFill>
                            <a:srgbClr val="333333"/>
                          </a:solidFill>
                          <a:latin typeface="Calibri"/>
                        </a:defRPr>
                      </a:pPr>
                      <a:r>
                        <a:t>1.00</a:t>
                      </a:r>
                    </a:p>
                  </a:txBody>
                  <a:tcPr anchor="ctr">
                    <a:solidFill>
                      <a:srgbClr val="E8EEF4"/>
                    </a:solidFill>
                  </a:tcPr>
                </a:tc>
              </a:tr>
            </a:tbl>
          </a:graphicData>
        </a:graphic>
      </p:graphicFrame>
      <p:sp>
        <p:nvSpPr>
          <p:cNvPr id="8" name="TextBox 7"/>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Risk Component 2: Age Beyond Design Life</a:t>
            </a:r>
          </a:p>
        </p:txBody>
      </p:sp>
      <p:sp>
        <p:nvSpPr>
          <p:cNvPr id="4" name="Rectangle 3"/>
          <p:cNvSpPr/>
          <p:nvPr/>
        </p:nvSpPr>
        <p:spPr>
          <a:xfrm>
            <a:off x="731520" y="1371600"/>
            <a:ext cx="1069848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10058400" cy="822960"/>
          </a:xfrm>
          <a:prstGeom prst="rect">
            <a:avLst/>
          </a:prstGeom>
          <a:noFill/>
        </p:spPr>
        <p:txBody>
          <a:bodyPr wrap="square">
            <a:spAutoFit/>
          </a:bodyPr>
          <a:lstStyle/>
          <a:p>
            <a:pPr algn="ctr">
              <a:defRPr sz="2600" b="1">
                <a:solidFill>
                  <a:srgbClr val="1B3A5C"/>
                </a:solidFill>
                <a:latin typeface="Consolas"/>
              </a:defRPr>
            </a:pPr>
            <a:r>
              <a:t>age_risk  =  min( age / 50,   1.0 )</a:t>
            </a:r>
          </a:p>
        </p:txBody>
      </p:sp>
      <p:sp>
        <p:nvSpPr>
          <p:cNvPr id="6" name="TextBox 5"/>
          <p:cNvSpPr txBox="1"/>
          <p:nvPr/>
        </p:nvSpPr>
        <p:spPr>
          <a:xfrm>
            <a:off x="731520" y="2743200"/>
            <a:ext cx="10515600" cy="3200400"/>
          </a:xfrm>
          <a:prstGeom prst="rect">
            <a:avLst/>
          </a:prstGeom>
          <a:noFill/>
        </p:spPr>
        <p:txBody>
          <a:bodyPr wrap="square">
            <a:spAutoFit/>
          </a:bodyPr>
          <a:lstStyle/>
          <a:p>
            <a:pPr>
              <a:spcAft>
                <a:spcPts val="1200"/>
              </a:spcAft>
              <a:defRPr sz="1800" b="0">
                <a:solidFill>
                  <a:srgbClr val="333333"/>
                </a:solidFill>
                <a:latin typeface="Calibri"/>
              </a:defRPr>
            </a:pPr>
            <a:r>
              <a:t>age = 2025 - year_built</a:t>
            </a:r>
          </a:p>
          <a:p>
            <a:pPr>
              <a:spcAft>
                <a:spcPts val="1200"/>
              </a:spcAft>
              <a:defRPr sz="1800" b="0">
                <a:solidFill>
                  <a:srgbClr val="333333"/>
                </a:solidFill>
                <a:latin typeface="Calibri"/>
              </a:defRPr>
            </a:pPr>
            <a:r>
              <a:t>Design life = 50 years (standard assumption)</a:t>
            </a:r>
          </a:p>
          <a:p>
            <a:pPr>
              <a:spcAft>
                <a:spcPts val="1200"/>
              </a:spcAft>
              <a:defRPr sz="1800" b="0">
                <a:solidFill>
                  <a:srgbClr val="333333"/>
                </a:solidFill>
                <a:latin typeface="Calibri"/>
              </a:defRPr>
            </a:pPr>
            <a:r>
              <a:t>Linear increase from 0 at age 0 to 1.0 at age 50</a:t>
            </a:r>
          </a:p>
          <a:p>
            <a:pPr>
              <a:spcAft>
                <a:spcPts val="1200"/>
              </a:spcAft>
              <a:defRPr sz="1800" b="0">
                <a:solidFill>
                  <a:srgbClr val="333333"/>
                </a:solidFill>
                <a:latin typeface="Calibri"/>
              </a:defRPr>
            </a:pPr>
            <a:r>
              <a:t>Capped at 1.0 -- a 100-year-old bridge is not 'twice as risky' as a 50-year-old</a:t>
            </a:r>
          </a:p>
          <a:p>
            <a:pPr>
              <a:spcAft>
                <a:spcPts val="1200"/>
              </a:spcAft>
              <a:defRPr sz="1800" b="0">
                <a:solidFill>
                  <a:srgbClr val="333333"/>
                </a:solidFill>
                <a:latin typeface="Calibri"/>
              </a:defRPr>
            </a:pPr>
            <a:r>
              <a:t>43.8% of Texas bridges exceed 50-year design life</a:t>
            </a:r>
          </a:p>
          <a:p>
            <a:pPr>
              <a:spcAft>
                <a:spcPts val="1200"/>
              </a:spcAft>
              <a:defRPr sz="1800" b="0">
                <a:solidFill>
                  <a:srgbClr val="333333"/>
                </a:solidFill>
                <a:latin typeface="Calibri"/>
              </a:defRPr>
            </a:pPr>
            <a:r>
              <a:t>Example: built 1970 -&gt; age 55 -&gt; age_risk = min(55/50, 1.0) = 1.0</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Risk Component 3: Traffic Exposure</a:t>
            </a:r>
          </a:p>
        </p:txBody>
      </p:sp>
      <p:sp>
        <p:nvSpPr>
          <p:cNvPr id="4" name="Rectangle 3"/>
          <p:cNvSpPr/>
          <p:nvPr/>
        </p:nvSpPr>
        <p:spPr>
          <a:xfrm>
            <a:off x="731520" y="1371600"/>
            <a:ext cx="1069848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10058400" cy="822960"/>
          </a:xfrm>
          <a:prstGeom prst="rect">
            <a:avLst/>
          </a:prstGeom>
          <a:noFill/>
        </p:spPr>
        <p:txBody>
          <a:bodyPr wrap="square">
            <a:spAutoFit/>
          </a:bodyPr>
          <a:lstStyle/>
          <a:p>
            <a:pPr algn="ctr">
              <a:defRPr sz="2600" b="1">
                <a:solidFill>
                  <a:srgbClr val="1B3A5C"/>
                </a:solidFill>
                <a:latin typeface="Consolas"/>
              </a:defRPr>
            </a:pPr>
            <a:r>
              <a:t>traffic_risk  =  log1p( ADT )  /  log1p( max_ADT )</a:t>
            </a:r>
          </a:p>
        </p:txBody>
      </p:sp>
      <p:sp>
        <p:nvSpPr>
          <p:cNvPr id="6" name="TextBox 5"/>
          <p:cNvSpPr txBox="1"/>
          <p:nvPr/>
        </p:nvSpPr>
        <p:spPr>
          <a:xfrm>
            <a:off x="731520" y="2743200"/>
            <a:ext cx="5029200" cy="3200400"/>
          </a:xfrm>
          <a:prstGeom prst="rect">
            <a:avLst/>
          </a:prstGeom>
          <a:noFill/>
        </p:spPr>
        <p:txBody>
          <a:bodyPr wrap="square">
            <a:spAutoFit/>
          </a:bodyPr>
          <a:lstStyle/>
          <a:p>
            <a:pPr>
              <a:spcAft>
                <a:spcPts val="1200"/>
              </a:spcAft>
              <a:defRPr sz="1800" b="0">
                <a:solidFill>
                  <a:srgbClr val="333333"/>
                </a:solidFill>
                <a:latin typeface="Calibri"/>
              </a:defRPr>
            </a:pPr>
            <a:r>
              <a:t>ADT = average daily traffic (vehicles/day)</a:t>
            </a:r>
          </a:p>
          <a:p>
            <a:pPr>
              <a:spcAft>
                <a:spcPts val="1200"/>
              </a:spcAft>
              <a:defRPr sz="1800" b="0">
                <a:solidFill>
                  <a:srgbClr val="333333"/>
                </a:solidFill>
                <a:latin typeface="Calibri"/>
              </a:defRPr>
            </a:pPr>
            <a:r>
              <a:t>Texas range: 0 to 810,110</a:t>
            </a:r>
          </a:p>
          <a:p>
            <a:pPr>
              <a:spcAft>
                <a:spcPts val="1200"/>
              </a:spcAft>
              <a:defRPr sz="1800" b="0">
                <a:solidFill>
                  <a:srgbClr val="333333"/>
                </a:solidFill>
                <a:latin typeface="Calibri"/>
              </a:defRPr>
            </a:pPr>
            <a:r>
              <a:t>log1p compresses 5 orders of magnitude</a:t>
            </a:r>
          </a:p>
          <a:p>
            <a:pPr>
              <a:spcAft>
                <a:spcPts val="1200"/>
              </a:spcAft>
              <a:defRPr sz="1800" b="0">
                <a:solidFill>
                  <a:srgbClr val="333333"/>
                </a:solidFill>
                <a:latin typeface="Calibri"/>
              </a:defRPr>
            </a:pPr>
            <a:r>
              <a:t>log1p(0) = 0: unused bridges get zero traffic risk</a:t>
            </a:r>
          </a:p>
          <a:p>
            <a:pPr>
              <a:spcAft>
                <a:spcPts val="1200"/>
              </a:spcAft>
              <a:defRPr sz="1800" b="0">
                <a:solidFill>
                  <a:srgbClr val="333333"/>
                </a:solidFill>
                <a:latin typeface="Calibri"/>
              </a:defRPr>
            </a:pPr>
            <a:r>
              <a:t>Captures consequence of failure, not structural state</a:t>
            </a:r>
          </a:p>
        </p:txBody>
      </p:sp>
      <p:graphicFrame>
        <p:nvGraphicFramePr>
          <p:cNvPr id="7" name="Table 6"/>
          <p:cNvGraphicFramePr>
            <a:graphicFrameLocks noGrp="1"/>
          </p:cNvGraphicFramePr>
          <p:nvPr/>
        </p:nvGraphicFramePr>
        <p:xfrm>
          <a:off x="6400800" y="2743200"/>
          <a:ext cx="5303520" cy="2743200"/>
        </p:xfrm>
        <a:graphic>
          <a:graphicData uri="http://schemas.openxmlformats.org/drawingml/2006/table">
            <a:tbl>
              <a:tblPr firstRow="1" bandRow="1">
                <a:tableStyleId>{5C22544A-7EE6-4342-B048-85BDC9FD1C3A}</a:tableStyleId>
              </a:tblPr>
              <a:tblGrid>
                <a:gridCol w="1188720"/>
                <a:gridCol w="2286000"/>
                <a:gridCol w="1828800"/>
              </a:tblGrid>
              <a:tr h="391885">
                <a:tc>
                  <a:txBody>
                    <a:bodyPr/>
                    <a:lstStyle/>
                    <a:p>
                      <a:pPr>
                        <a:defRPr sz="1300" b="1">
                          <a:solidFill>
                            <a:srgbClr val="FFFFFF"/>
                          </a:solidFill>
                          <a:latin typeface="Calibri"/>
                        </a:defRPr>
                      </a:pPr>
                      <a:r>
                        <a:t>ADT</a:t>
                      </a:r>
                    </a:p>
                  </a:txBody>
                  <a:tcPr anchor="ctr">
                    <a:solidFill>
                      <a:srgbClr val="1B3A5C"/>
                    </a:solidFill>
                  </a:tcPr>
                </a:tc>
                <a:tc>
                  <a:txBody>
                    <a:bodyPr/>
                    <a:lstStyle/>
                    <a:p>
                      <a:pPr>
                        <a:defRPr sz="1300" b="1">
                          <a:solidFill>
                            <a:srgbClr val="FFFFFF"/>
                          </a:solidFill>
                          <a:latin typeface="Calibri"/>
                        </a:defRPr>
                      </a:pPr>
                      <a:r>
                        <a:t>Context</a:t>
                      </a:r>
                    </a:p>
                  </a:txBody>
                  <a:tcPr anchor="ctr">
                    <a:solidFill>
                      <a:srgbClr val="1B3A5C"/>
                    </a:solidFill>
                  </a:tcPr>
                </a:tc>
                <a:tc>
                  <a:txBody>
                    <a:bodyPr/>
                    <a:lstStyle/>
                    <a:p>
                      <a:pPr>
                        <a:defRPr sz="1300" b="1">
                          <a:solidFill>
                            <a:srgbClr val="FFFFFF"/>
                          </a:solidFill>
                          <a:latin typeface="Calibri"/>
                        </a:defRPr>
                      </a:pPr>
                      <a:r>
                        <a:t>Traffic Risk</a:t>
                      </a:r>
                    </a:p>
                  </a:txBody>
                  <a:tcPr anchor="ctr">
                    <a:solidFill>
                      <a:srgbClr val="1B3A5C"/>
                    </a:solidFill>
                  </a:tcPr>
                </a:tc>
              </a:tr>
              <a:tr h="391885">
                <a:tc>
                  <a:txBody>
                    <a:bodyPr/>
                    <a:lstStyle/>
                    <a:p>
                      <a:pPr>
                        <a:defRPr sz="1300">
                          <a:solidFill>
                            <a:srgbClr val="333333"/>
                          </a:solidFill>
                          <a:latin typeface="Calibri"/>
                        </a:defRPr>
                      </a:pPr>
                      <a:r>
                        <a:t>10</a:t>
                      </a:r>
                    </a:p>
                  </a:txBody>
                  <a:tcPr anchor="ctr"/>
                </a:tc>
                <a:tc>
                  <a:txBody>
                    <a:bodyPr/>
                    <a:lstStyle/>
                    <a:p>
                      <a:pPr>
                        <a:defRPr sz="1300">
                          <a:solidFill>
                            <a:srgbClr val="333333"/>
                          </a:solidFill>
                          <a:latin typeface="Calibri"/>
                        </a:defRPr>
                      </a:pPr>
                      <a:r>
                        <a:t>Rural ranch road</a:t>
                      </a:r>
                    </a:p>
                  </a:txBody>
                  <a:tcPr anchor="ctr"/>
                </a:tc>
                <a:tc>
                  <a:txBody>
                    <a:bodyPr/>
                    <a:lstStyle/>
                    <a:p>
                      <a:pPr>
                        <a:defRPr sz="1300">
                          <a:solidFill>
                            <a:srgbClr val="333333"/>
                          </a:solidFill>
                          <a:latin typeface="Calibri"/>
                        </a:defRPr>
                      </a:pPr>
                      <a:r>
                        <a:t>0.017</a:t>
                      </a:r>
                    </a:p>
                  </a:txBody>
                  <a:tcPr anchor="ctr"/>
                </a:tc>
              </a:tr>
              <a:tr h="391885">
                <a:tc>
                  <a:txBody>
                    <a:bodyPr/>
                    <a:lstStyle/>
                    <a:p>
                      <a:pPr>
                        <a:defRPr sz="1300">
                          <a:solidFill>
                            <a:srgbClr val="333333"/>
                          </a:solidFill>
                          <a:latin typeface="Calibri"/>
                        </a:defRPr>
                      </a:pPr>
                      <a:r>
                        <a:t>500</a:t>
                      </a:r>
                    </a:p>
                  </a:txBody>
                  <a:tcPr anchor="ctr">
                    <a:solidFill>
                      <a:srgbClr val="E8EEF4"/>
                    </a:solidFill>
                  </a:tcPr>
                </a:tc>
                <a:tc>
                  <a:txBody>
                    <a:bodyPr/>
                    <a:lstStyle/>
                    <a:p>
                      <a:pPr>
                        <a:defRPr sz="1300">
                          <a:solidFill>
                            <a:srgbClr val="333333"/>
                          </a:solidFill>
                          <a:latin typeface="Calibri"/>
                        </a:defRPr>
                      </a:pPr>
                      <a:r>
                        <a:t>Farm-to-market road</a:t>
                      </a:r>
                    </a:p>
                  </a:txBody>
                  <a:tcPr anchor="ctr">
                    <a:solidFill>
                      <a:srgbClr val="E8EEF4"/>
                    </a:solidFill>
                  </a:tcPr>
                </a:tc>
                <a:tc>
                  <a:txBody>
                    <a:bodyPr/>
                    <a:lstStyle/>
                    <a:p>
                      <a:pPr>
                        <a:defRPr sz="1300">
                          <a:solidFill>
                            <a:srgbClr val="333333"/>
                          </a:solidFill>
                          <a:latin typeface="Calibri"/>
                        </a:defRPr>
                      </a:pPr>
                      <a:r>
                        <a:t>0.046</a:t>
                      </a:r>
                    </a:p>
                  </a:txBody>
                  <a:tcPr anchor="ctr">
                    <a:solidFill>
                      <a:srgbClr val="E8EEF4"/>
                    </a:solidFill>
                  </a:tcPr>
                </a:tc>
              </a:tr>
              <a:tr h="391885">
                <a:tc>
                  <a:txBody>
                    <a:bodyPr/>
                    <a:lstStyle/>
                    <a:p>
                      <a:pPr>
                        <a:defRPr sz="1300">
                          <a:solidFill>
                            <a:srgbClr val="333333"/>
                          </a:solidFill>
                          <a:latin typeface="Calibri"/>
                        </a:defRPr>
                      </a:pPr>
                      <a:r>
                        <a:t>5,000</a:t>
                      </a:r>
                    </a:p>
                  </a:txBody>
                  <a:tcPr anchor="ctr"/>
                </a:tc>
                <a:tc>
                  <a:txBody>
                    <a:bodyPr/>
                    <a:lstStyle/>
                    <a:p>
                      <a:pPr>
                        <a:defRPr sz="1300">
                          <a:solidFill>
                            <a:srgbClr val="333333"/>
                          </a:solidFill>
                          <a:latin typeface="Calibri"/>
                        </a:defRPr>
                      </a:pPr>
                      <a:r>
                        <a:t>Urban arterial</a:t>
                      </a:r>
                    </a:p>
                  </a:txBody>
                  <a:tcPr anchor="ctr"/>
                </a:tc>
                <a:tc>
                  <a:txBody>
                    <a:bodyPr/>
                    <a:lstStyle/>
                    <a:p>
                      <a:pPr>
                        <a:defRPr sz="1300">
                          <a:solidFill>
                            <a:srgbClr val="333333"/>
                          </a:solidFill>
                          <a:latin typeface="Calibri"/>
                        </a:defRPr>
                      </a:pPr>
                      <a:r>
                        <a:t>0.063</a:t>
                      </a:r>
                    </a:p>
                  </a:txBody>
                  <a:tcPr anchor="ctr"/>
                </a:tc>
              </a:tr>
              <a:tr h="391885">
                <a:tc>
                  <a:txBody>
                    <a:bodyPr/>
                    <a:lstStyle/>
                    <a:p>
                      <a:pPr>
                        <a:defRPr sz="1300">
                          <a:solidFill>
                            <a:srgbClr val="333333"/>
                          </a:solidFill>
                          <a:latin typeface="Calibri"/>
                        </a:defRPr>
                      </a:pPr>
                      <a:r>
                        <a:t>50,000</a:t>
                      </a:r>
                    </a:p>
                  </a:txBody>
                  <a:tcPr anchor="ctr">
                    <a:solidFill>
                      <a:srgbClr val="E8EEF4"/>
                    </a:solidFill>
                  </a:tcPr>
                </a:tc>
                <a:tc>
                  <a:txBody>
                    <a:bodyPr/>
                    <a:lstStyle/>
                    <a:p>
                      <a:pPr>
                        <a:defRPr sz="1300">
                          <a:solidFill>
                            <a:srgbClr val="333333"/>
                          </a:solidFill>
                          <a:latin typeface="Calibri"/>
                        </a:defRPr>
                      </a:pPr>
                      <a:r>
                        <a:t>Urban freeway</a:t>
                      </a:r>
                    </a:p>
                  </a:txBody>
                  <a:tcPr anchor="ctr">
                    <a:solidFill>
                      <a:srgbClr val="E8EEF4"/>
                    </a:solidFill>
                  </a:tcPr>
                </a:tc>
                <a:tc>
                  <a:txBody>
                    <a:bodyPr/>
                    <a:lstStyle/>
                    <a:p>
                      <a:pPr>
                        <a:defRPr sz="1300">
                          <a:solidFill>
                            <a:srgbClr val="333333"/>
                          </a:solidFill>
                          <a:latin typeface="Calibri"/>
                        </a:defRPr>
                      </a:pPr>
                      <a:r>
                        <a:t>0.079</a:t>
                      </a:r>
                    </a:p>
                  </a:txBody>
                  <a:tcPr anchor="ctr">
                    <a:solidFill>
                      <a:srgbClr val="E8EEF4"/>
                    </a:solidFill>
                  </a:tcPr>
                </a:tc>
              </a:tr>
              <a:tr h="391885">
                <a:tc>
                  <a:txBody>
                    <a:bodyPr/>
                    <a:lstStyle/>
                    <a:p>
                      <a:pPr>
                        <a:defRPr sz="1300">
                          <a:solidFill>
                            <a:srgbClr val="333333"/>
                          </a:solidFill>
                          <a:latin typeface="Calibri"/>
                        </a:defRPr>
                      </a:pPr>
                      <a:r>
                        <a:t>200,000</a:t>
                      </a:r>
                    </a:p>
                  </a:txBody>
                  <a:tcPr anchor="ctr"/>
                </a:tc>
                <a:tc>
                  <a:txBody>
                    <a:bodyPr/>
                    <a:lstStyle/>
                    <a:p>
                      <a:pPr>
                        <a:defRPr sz="1300">
                          <a:solidFill>
                            <a:srgbClr val="333333"/>
                          </a:solidFill>
                          <a:latin typeface="Calibri"/>
                        </a:defRPr>
                      </a:pPr>
                      <a:r>
                        <a:t>Major interstate</a:t>
                      </a:r>
                    </a:p>
                  </a:txBody>
                  <a:tcPr anchor="ctr"/>
                </a:tc>
                <a:tc>
                  <a:txBody>
                    <a:bodyPr/>
                    <a:lstStyle/>
                    <a:p>
                      <a:pPr>
                        <a:defRPr sz="1300">
                          <a:solidFill>
                            <a:srgbClr val="333333"/>
                          </a:solidFill>
                          <a:latin typeface="Calibri"/>
                        </a:defRPr>
                      </a:pPr>
                      <a:r>
                        <a:t>0.090</a:t>
                      </a:r>
                    </a:p>
                  </a:txBody>
                  <a:tcPr anchor="ctr"/>
                </a:tc>
              </a:tr>
              <a:tr h="391890">
                <a:tc>
                  <a:txBody>
                    <a:bodyPr/>
                    <a:lstStyle/>
                    <a:p>
                      <a:pPr>
                        <a:defRPr sz="1300">
                          <a:solidFill>
                            <a:srgbClr val="333333"/>
                          </a:solidFill>
                          <a:latin typeface="Calibri"/>
                        </a:defRPr>
                      </a:pPr>
                      <a:r>
                        <a:t>810,110</a:t>
                      </a:r>
                    </a:p>
                  </a:txBody>
                  <a:tcPr anchor="ctr">
                    <a:solidFill>
                      <a:srgbClr val="E8EEF4"/>
                    </a:solidFill>
                  </a:tcPr>
                </a:tc>
                <a:tc>
                  <a:txBody>
                    <a:bodyPr/>
                    <a:lstStyle/>
                    <a:p>
                      <a:pPr>
                        <a:defRPr sz="1300">
                          <a:solidFill>
                            <a:srgbClr val="333333"/>
                          </a:solidFill>
                          <a:latin typeface="Calibri"/>
                        </a:defRPr>
                      </a:pPr>
                      <a:r>
                        <a:t>IH-35 (max in TX)</a:t>
                      </a:r>
                    </a:p>
                  </a:txBody>
                  <a:tcPr anchor="ctr">
                    <a:solidFill>
                      <a:srgbClr val="E8EEF4"/>
                    </a:solidFill>
                  </a:tcPr>
                </a:tc>
                <a:tc>
                  <a:txBody>
                    <a:bodyPr/>
                    <a:lstStyle/>
                    <a:p>
                      <a:pPr>
                        <a:defRPr sz="1300">
                          <a:solidFill>
                            <a:srgbClr val="333333"/>
                          </a:solidFill>
                          <a:latin typeface="Calibri"/>
                        </a:defRPr>
                      </a:pPr>
                      <a:r>
                        <a:t>0.100</a:t>
                      </a:r>
                    </a:p>
                  </a:txBody>
                  <a:tcPr anchor="ctr">
                    <a:solidFill>
                      <a:srgbClr val="E8EEF4"/>
                    </a:solidFill>
                  </a:tcPr>
                </a:tc>
              </a:tr>
            </a:tbl>
          </a:graphicData>
        </a:graphic>
      </p:graphicFrame>
      <p:sp>
        <p:nvSpPr>
          <p:cNvPr id="8" name="TextBox 7"/>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Composite Risk Score</a:t>
            </a:r>
          </a:p>
        </p:txBody>
      </p:sp>
      <p:sp>
        <p:nvSpPr>
          <p:cNvPr id="4" name="Rectangle 3"/>
          <p:cNvSpPr/>
          <p:nvPr/>
        </p:nvSpPr>
        <p:spPr>
          <a:xfrm>
            <a:off x="731520" y="1371600"/>
            <a:ext cx="1069848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1005840"/>
          </a:xfrm>
          <a:prstGeom prst="rect">
            <a:avLst/>
          </a:prstGeom>
          <a:noFill/>
        </p:spPr>
        <p:txBody>
          <a:bodyPr wrap="square">
            <a:spAutoFit/>
          </a:bodyPr>
          <a:lstStyle/>
          <a:p>
            <a:pPr algn="ctr">
              <a:defRPr sz="2600" b="1">
                <a:solidFill>
                  <a:srgbClr val="1B3A5C"/>
                </a:solidFill>
                <a:latin typeface="Consolas"/>
              </a:defRPr>
            </a:pPr>
            <a:r>
              <a:t>risk_score  =  0.30 x condition  +  0.30 x age  +  0.40 x traffic</a:t>
            </a:r>
          </a:p>
        </p:txBody>
      </p:sp>
      <p:sp>
        <p:nvSpPr>
          <p:cNvPr id="6" name="TextBox 5"/>
          <p:cNvSpPr txBox="1"/>
          <p:nvPr/>
        </p:nvSpPr>
        <p:spPr>
          <a:xfrm>
            <a:off x="731520" y="2926080"/>
            <a:ext cx="10515600" cy="3200400"/>
          </a:xfrm>
          <a:prstGeom prst="rect">
            <a:avLst/>
          </a:prstGeom>
          <a:noFill/>
        </p:spPr>
        <p:txBody>
          <a:bodyPr wrap="square">
            <a:spAutoFit/>
          </a:bodyPr>
          <a:lstStyle/>
          <a:p>
            <a:pPr>
              <a:spcAft>
                <a:spcPts val="1400"/>
              </a:spcAft>
              <a:defRPr sz="1900" b="0">
                <a:solidFill>
                  <a:srgbClr val="333333"/>
                </a:solidFill>
                <a:latin typeface="Calibri"/>
              </a:defRPr>
            </a:pPr>
            <a:r>
              <a:t>All sub-scores normalised to [0, 1] before combining</a:t>
            </a:r>
          </a:p>
          <a:p>
            <a:pPr>
              <a:spcAft>
                <a:spcPts val="1400"/>
              </a:spcAft>
              <a:defRPr sz="1900" b="0">
                <a:solidFill>
                  <a:srgbClr val="333333"/>
                </a:solidFill>
                <a:latin typeface="Calibri"/>
              </a:defRPr>
            </a:pPr>
            <a:r>
              <a:t>Traffic weighted highest (0.40): emphasises public safety consequence</a:t>
            </a:r>
          </a:p>
          <a:p>
            <a:pPr>
              <a:spcAft>
                <a:spcPts val="1400"/>
              </a:spcAft>
              <a:defRPr sz="1900" b="0">
                <a:solidFill>
                  <a:srgbClr val="333333"/>
                </a:solidFill>
                <a:latin typeface="Calibri"/>
              </a:defRPr>
            </a:pPr>
            <a:r>
              <a:t>Condition and age receive equal weight at 0.30 each</a:t>
            </a:r>
          </a:p>
          <a:p>
            <a:pPr>
              <a:spcAft>
                <a:spcPts val="1400"/>
              </a:spcAft>
              <a:defRPr sz="1900" b="0">
                <a:solidFill>
                  <a:srgbClr val="333333"/>
                </a:solidFill>
                <a:latin typeface="Calibri"/>
              </a:defRPr>
            </a:pPr>
            <a:r>
              <a:t>Composite score bounded: 0.0 (no risk) to 1.0 (maximum risk)</a:t>
            </a:r>
          </a:p>
          <a:p>
            <a:pPr>
              <a:spcAft>
                <a:spcPts val="1400"/>
              </a:spcAft>
              <a:defRPr sz="1900" b="0">
                <a:solidFill>
                  <a:srgbClr val="333333"/>
                </a:solidFill>
                <a:latin typeface="Calibri"/>
              </a:defRPr>
            </a:pPr>
            <a:r>
              <a:t>Weights are adjustable -- you will experiment with alternatives</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Risk Tier Classification</a:t>
            </a:r>
          </a:p>
        </p:txBody>
      </p:sp>
      <p:graphicFrame>
        <p:nvGraphicFramePr>
          <p:cNvPr id="4" name="Table 3"/>
          <p:cNvGraphicFramePr>
            <a:graphicFrameLocks noGrp="1"/>
          </p:cNvGraphicFramePr>
          <p:nvPr/>
        </p:nvGraphicFramePr>
        <p:xfrm>
          <a:off x="1371600" y="1645920"/>
          <a:ext cx="9418320" cy="2560320"/>
        </p:xfrm>
        <a:graphic>
          <a:graphicData uri="http://schemas.openxmlformats.org/drawingml/2006/table">
            <a:tbl>
              <a:tblPr firstRow="1" bandRow="1">
                <a:tableStyleId>{5C22544A-7EE6-4342-B048-85BDC9FD1C3A}</a:tableStyleId>
              </a:tblPr>
              <a:tblGrid>
                <a:gridCol w="1280160"/>
                <a:gridCol w="1463040"/>
                <a:gridCol w="1828800"/>
                <a:gridCol w="1645920"/>
                <a:gridCol w="3200400"/>
              </a:tblGrid>
              <a:tr h="512064">
                <a:tc>
                  <a:txBody>
                    <a:bodyPr/>
                    <a:lstStyle/>
                    <a:p>
                      <a:pPr>
                        <a:defRPr sz="1300" b="1">
                          <a:solidFill>
                            <a:srgbClr val="FFFFFF"/>
                          </a:solidFill>
                          <a:latin typeface="Calibri"/>
                        </a:defRPr>
                      </a:pPr>
                      <a:r>
                        <a:t>Tier</a:t>
                      </a:r>
                    </a:p>
                  </a:txBody>
                  <a:tcPr anchor="ctr">
                    <a:solidFill>
                      <a:srgbClr val="1B3A5C"/>
                    </a:solidFill>
                  </a:tcPr>
                </a:tc>
                <a:tc>
                  <a:txBody>
                    <a:bodyPr/>
                    <a:lstStyle/>
                    <a:p>
                      <a:pPr>
                        <a:defRPr sz="1300" b="1">
                          <a:solidFill>
                            <a:srgbClr val="FFFFFF"/>
                          </a:solidFill>
                          <a:latin typeface="Calibri"/>
                        </a:defRPr>
                      </a:pPr>
                      <a:r>
                        <a:t>Score Range</a:t>
                      </a:r>
                    </a:p>
                  </a:txBody>
                  <a:tcPr anchor="ctr">
                    <a:solidFill>
                      <a:srgbClr val="1B3A5C"/>
                    </a:solidFill>
                  </a:tcPr>
                </a:tc>
                <a:tc>
                  <a:txBody>
                    <a:bodyPr/>
                    <a:lstStyle/>
                    <a:p>
                      <a:pPr>
                        <a:defRPr sz="1300" b="1">
                          <a:solidFill>
                            <a:srgbClr val="FFFFFF"/>
                          </a:solidFill>
                          <a:latin typeface="Calibri"/>
                        </a:defRPr>
                      </a:pPr>
                      <a:r>
                        <a:t>Texas Count</a:t>
                      </a:r>
                    </a:p>
                  </a:txBody>
                  <a:tcPr anchor="ctr">
                    <a:solidFill>
                      <a:srgbClr val="1B3A5C"/>
                    </a:solidFill>
                  </a:tcPr>
                </a:tc>
                <a:tc>
                  <a:txBody>
                    <a:bodyPr/>
                    <a:lstStyle/>
                    <a:p>
                      <a:pPr>
                        <a:defRPr sz="1300" b="1">
                          <a:solidFill>
                            <a:srgbClr val="FFFFFF"/>
                          </a:solidFill>
                          <a:latin typeface="Calibri"/>
                        </a:defRPr>
                      </a:pPr>
                      <a:r>
                        <a:t>Percentage</a:t>
                      </a:r>
                    </a:p>
                  </a:txBody>
                  <a:tcPr anchor="ctr">
                    <a:solidFill>
                      <a:srgbClr val="1B3A5C"/>
                    </a:solidFill>
                  </a:tcPr>
                </a:tc>
                <a:tc>
                  <a:txBody>
                    <a:bodyPr/>
                    <a:lstStyle/>
                    <a:p>
                      <a:pPr>
                        <a:defRPr sz="1300" b="1">
                          <a:solidFill>
                            <a:srgbClr val="FFFFFF"/>
                          </a:solidFill>
                          <a:latin typeface="Calibri"/>
                        </a:defRPr>
                      </a:pPr>
                      <a:r>
                        <a:t>Action Level</a:t>
                      </a:r>
                    </a:p>
                  </a:txBody>
                  <a:tcPr anchor="ctr">
                    <a:solidFill>
                      <a:srgbClr val="1B3A5C"/>
                    </a:solidFill>
                  </a:tcPr>
                </a:tc>
              </a:tr>
              <a:tr h="512064">
                <a:tc>
                  <a:txBody>
                    <a:bodyPr/>
                    <a:lstStyle/>
                    <a:p>
                      <a:pPr>
                        <a:defRPr sz="1300">
                          <a:solidFill>
                            <a:srgbClr val="333333"/>
                          </a:solidFill>
                          <a:latin typeface="Calibri"/>
                        </a:defRPr>
                      </a:pPr>
                      <a:r>
                        <a:t>Low</a:t>
                      </a:r>
                    </a:p>
                  </a:txBody>
                  <a:tcPr anchor="ctr"/>
                </a:tc>
                <a:tc>
                  <a:txBody>
                    <a:bodyPr/>
                    <a:lstStyle/>
                    <a:p>
                      <a:pPr>
                        <a:defRPr sz="1300">
                          <a:solidFill>
                            <a:srgbClr val="333333"/>
                          </a:solidFill>
                          <a:latin typeface="Calibri"/>
                        </a:defRPr>
                      </a:pPr>
                      <a:r>
                        <a:t>0.00 - 0.24</a:t>
                      </a:r>
                    </a:p>
                  </a:txBody>
                  <a:tcPr anchor="ctr"/>
                </a:tc>
                <a:tc>
                  <a:txBody>
                    <a:bodyPr/>
                    <a:lstStyle/>
                    <a:p>
                      <a:pPr>
                        <a:defRPr sz="1300">
                          <a:solidFill>
                            <a:srgbClr val="333333"/>
                          </a:solidFill>
                          <a:latin typeface="Calibri"/>
                        </a:defRPr>
                      </a:pPr>
                      <a:r>
                        <a:t>1,548</a:t>
                      </a:r>
                    </a:p>
                  </a:txBody>
                  <a:tcPr anchor="ctr"/>
                </a:tc>
                <a:tc>
                  <a:txBody>
                    <a:bodyPr/>
                    <a:lstStyle/>
                    <a:p>
                      <a:pPr>
                        <a:defRPr sz="1300">
                          <a:solidFill>
                            <a:srgbClr val="333333"/>
                          </a:solidFill>
                          <a:latin typeface="Calibri"/>
                        </a:defRPr>
                      </a:pPr>
                      <a:r>
                        <a:t>2.7%</a:t>
                      </a:r>
                    </a:p>
                  </a:txBody>
                  <a:tcPr anchor="ctr"/>
                </a:tc>
                <a:tc>
                  <a:txBody>
                    <a:bodyPr/>
                    <a:lstStyle/>
                    <a:p>
                      <a:pPr>
                        <a:defRPr sz="1300">
                          <a:solidFill>
                            <a:srgbClr val="333333"/>
                          </a:solidFill>
                          <a:latin typeface="Calibri"/>
                        </a:defRPr>
                      </a:pPr>
                      <a:r>
                        <a:t>Routine monitoring</a:t>
                      </a:r>
                    </a:p>
                  </a:txBody>
                  <a:tcPr anchor="ctr"/>
                </a:tc>
              </a:tr>
              <a:tr h="512064">
                <a:tc>
                  <a:txBody>
                    <a:bodyPr/>
                    <a:lstStyle/>
                    <a:p>
                      <a:pPr>
                        <a:defRPr sz="1300">
                          <a:solidFill>
                            <a:srgbClr val="333333"/>
                          </a:solidFill>
                          <a:latin typeface="Calibri"/>
                        </a:defRPr>
                      </a:pPr>
                      <a:r>
                        <a:t>Moderate</a:t>
                      </a:r>
                    </a:p>
                  </a:txBody>
                  <a:tcPr anchor="ctr">
                    <a:solidFill>
                      <a:srgbClr val="E8EEF4"/>
                    </a:solidFill>
                  </a:tcPr>
                </a:tc>
                <a:tc>
                  <a:txBody>
                    <a:bodyPr/>
                    <a:lstStyle/>
                    <a:p>
                      <a:pPr>
                        <a:defRPr sz="1300">
                          <a:solidFill>
                            <a:srgbClr val="333333"/>
                          </a:solidFill>
                          <a:latin typeface="Calibri"/>
                        </a:defRPr>
                      </a:pPr>
                      <a:r>
                        <a:t>0.25 - 0.49</a:t>
                      </a:r>
                    </a:p>
                  </a:txBody>
                  <a:tcPr anchor="ctr">
                    <a:solidFill>
                      <a:srgbClr val="E8EEF4"/>
                    </a:solidFill>
                  </a:tcPr>
                </a:tc>
                <a:tc>
                  <a:txBody>
                    <a:bodyPr/>
                    <a:lstStyle/>
                    <a:p>
                      <a:pPr>
                        <a:defRPr sz="1300">
                          <a:solidFill>
                            <a:srgbClr val="333333"/>
                          </a:solidFill>
                          <a:latin typeface="Calibri"/>
                        </a:defRPr>
                      </a:pPr>
                      <a:r>
                        <a:t>20,127</a:t>
                      </a:r>
                    </a:p>
                  </a:txBody>
                  <a:tcPr anchor="ctr">
                    <a:solidFill>
                      <a:srgbClr val="E8EEF4"/>
                    </a:solidFill>
                  </a:tcPr>
                </a:tc>
                <a:tc>
                  <a:txBody>
                    <a:bodyPr/>
                    <a:lstStyle/>
                    <a:p>
                      <a:pPr>
                        <a:defRPr sz="1300">
                          <a:solidFill>
                            <a:srgbClr val="333333"/>
                          </a:solidFill>
                          <a:latin typeface="Calibri"/>
                        </a:defRPr>
                      </a:pPr>
                      <a:r>
                        <a:t>35.3%</a:t>
                      </a:r>
                    </a:p>
                  </a:txBody>
                  <a:tcPr anchor="ctr">
                    <a:solidFill>
                      <a:srgbClr val="E8EEF4"/>
                    </a:solidFill>
                  </a:tcPr>
                </a:tc>
                <a:tc>
                  <a:txBody>
                    <a:bodyPr/>
                    <a:lstStyle/>
                    <a:p>
                      <a:pPr>
                        <a:defRPr sz="1300">
                          <a:solidFill>
                            <a:srgbClr val="333333"/>
                          </a:solidFill>
                          <a:latin typeface="Calibri"/>
                        </a:defRPr>
                      </a:pPr>
                      <a:r>
                        <a:t>Scheduled inspection</a:t>
                      </a:r>
                    </a:p>
                  </a:txBody>
                  <a:tcPr anchor="ctr">
                    <a:solidFill>
                      <a:srgbClr val="E8EEF4"/>
                    </a:solidFill>
                  </a:tcPr>
                </a:tc>
              </a:tr>
              <a:tr h="512064">
                <a:tc>
                  <a:txBody>
                    <a:bodyPr/>
                    <a:lstStyle/>
                    <a:p>
                      <a:pPr>
                        <a:defRPr sz="1300">
                          <a:solidFill>
                            <a:srgbClr val="333333"/>
                          </a:solidFill>
                          <a:latin typeface="Calibri"/>
                        </a:defRPr>
                      </a:pPr>
                      <a:r>
                        <a:t>High</a:t>
                      </a:r>
                    </a:p>
                  </a:txBody>
                  <a:tcPr anchor="ctr"/>
                </a:tc>
                <a:tc>
                  <a:txBody>
                    <a:bodyPr/>
                    <a:lstStyle/>
                    <a:p>
                      <a:pPr>
                        <a:defRPr sz="1300">
                          <a:solidFill>
                            <a:srgbClr val="333333"/>
                          </a:solidFill>
                          <a:latin typeface="Calibri"/>
                        </a:defRPr>
                      </a:pPr>
                      <a:r>
                        <a:t>0.50 - 0.74</a:t>
                      </a:r>
                    </a:p>
                  </a:txBody>
                  <a:tcPr anchor="ctr"/>
                </a:tc>
                <a:tc>
                  <a:txBody>
                    <a:bodyPr/>
                    <a:lstStyle/>
                    <a:p>
                      <a:pPr>
                        <a:defRPr sz="1300">
                          <a:solidFill>
                            <a:srgbClr val="333333"/>
                          </a:solidFill>
                          <a:latin typeface="Calibri"/>
                        </a:defRPr>
                      </a:pPr>
                      <a:r>
                        <a:t>34,966</a:t>
                      </a:r>
                    </a:p>
                  </a:txBody>
                  <a:tcPr anchor="ctr"/>
                </a:tc>
                <a:tc>
                  <a:txBody>
                    <a:bodyPr/>
                    <a:lstStyle/>
                    <a:p>
                      <a:pPr>
                        <a:defRPr sz="1300">
                          <a:solidFill>
                            <a:srgbClr val="333333"/>
                          </a:solidFill>
                          <a:latin typeface="Calibri"/>
                        </a:defRPr>
                      </a:pPr>
                      <a:r>
                        <a:t>61.4%</a:t>
                      </a:r>
                    </a:p>
                  </a:txBody>
                  <a:tcPr anchor="ctr"/>
                </a:tc>
                <a:tc>
                  <a:txBody>
                    <a:bodyPr/>
                    <a:lstStyle/>
                    <a:p>
                      <a:pPr>
                        <a:defRPr sz="1300">
                          <a:solidFill>
                            <a:srgbClr val="333333"/>
                          </a:solidFill>
                          <a:latin typeface="Calibri"/>
                        </a:defRPr>
                      </a:pPr>
                      <a:r>
                        <a:t>Priority assessment</a:t>
                      </a:r>
                    </a:p>
                  </a:txBody>
                  <a:tcPr anchor="ctr"/>
                </a:tc>
              </a:tr>
              <a:tr h="512064">
                <a:tc>
                  <a:txBody>
                    <a:bodyPr/>
                    <a:lstStyle/>
                    <a:p>
                      <a:pPr>
                        <a:defRPr sz="1300">
                          <a:solidFill>
                            <a:srgbClr val="333333"/>
                          </a:solidFill>
                          <a:latin typeface="Calibri"/>
                        </a:defRPr>
                      </a:pPr>
                      <a:r>
                        <a:t>Critical</a:t>
                      </a:r>
                    </a:p>
                  </a:txBody>
                  <a:tcPr anchor="ctr">
                    <a:solidFill>
                      <a:srgbClr val="E8EEF4"/>
                    </a:solidFill>
                  </a:tcPr>
                </a:tc>
                <a:tc>
                  <a:txBody>
                    <a:bodyPr/>
                    <a:lstStyle/>
                    <a:p>
                      <a:pPr>
                        <a:defRPr sz="1300">
                          <a:solidFill>
                            <a:srgbClr val="333333"/>
                          </a:solidFill>
                          <a:latin typeface="Calibri"/>
                        </a:defRPr>
                      </a:pPr>
                      <a:r>
                        <a:t>0.75 - 1.00</a:t>
                      </a:r>
                    </a:p>
                  </a:txBody>
                  <a:tcPr anchor="ctr">
                    <a:solidFill>
                      <a:srgbClr val="E8EEF4"/>
                    </a:solidFill>
                  </a:tcPr>
                </a:tc>
                <a:tc>
                  <a:txBody>
                    <a:bodyPr/>
                    <a:lstStyle/>
                    <a:p>
                      <a:pPr>
                        <a:defRPr sz="1300">
                          <a:solidFill>
                            <a:srgbClr val="333333"/>
                          </a:solidFill>
                          <a:latin typeface="Calibri"/>
                        </a:defRPr>
                      </a:pPr>
                      <a:r>
                        <a:t>310</a:t>
                      </a:r>
                    </a:p>
                  </a:txBody>
                  <a:tcPr anchor="ctr">
                    <a:solidFill>
                      <a:srgbClr val="E8EEF4"/>
                    </a:solidFill>
                  </a:tcPr>
                </a:tc>
                <a:tc>
                  <a:txBody>
                    <a:bodyPr/>
                    <a:lstStyle/>
                    <a:p>
                      <a:pPr>
                        <a:defRPr sz="1300">
                          <a:solidFill>
                            <a:srgbClr val="333333"/>
                          </a:solidFill>
                          <a:latin typeface="Calibri"/>
                        </a:defRPr>
                      </a:pPr>
                      <a:r>
                        <a:t>0.5%</a:t>
                      </a:r>
                    </a:p>
                  </a:txBody>
                  <a:tcPr anchor="ctr">
                    <a:solidFill>
                      <a:srgbClr val="E8EEF4"/>
                    </a:solidFill>
                  </a:tcPr>
                </a:tc>
                <a:tc>
                  <a:txBody>
                    <a:bodyPr/>
                    <a:lstStyle/>
                    <a:p>
                      <a:pPr>
                        <a:defRPr sz="1300">
                          <a:solidFill>
                            <a:srgbClr val="333333"/>
                          </a:solidFill>
                          <a:latin typeface="Calibri"/>
                        </a:defRPr>
                      </a:pPr>
                      <a:r>
                        <a:t>Immediate review</a:t>
                      </a:r>
                    </a:p>
                  </a:txBody>
                  <a:tcPr anchor="ctr">
                    <a:solidFill>
                      <a:srgbClr val="E8EEF4"/>
                    </a:solidFill>
                  </a:tcPr>
                </a:tc>
              </a:tr>
            </a:tbl>
          </a:graphicData>
        </a:graphic>
      </p:graphicFrame>
      <p:sp>
        <p:nvSpPr>
          <p:cNvPr id="5" name="TextBox 4"/>
          <p:cNvSpPr txBox="1"/>
          <p:nvPr/>
        </p:nvSpPr>
        <p:spPr>
          <a:xfrm>
            <a:off x="731520" y="4754880"/>
            <a:ext cx="10515600" cy="1371600"/>
          </a:xfrm>
          <a:prstGeom prst="rect">
            <a:avLst/>
          </a:prstGeom>
          <a:noFill/>
        </p:spPr>
        <p:txBody>
          <a:bodyPr wrap="square">
            <a:spAutoFit/>
          </a:bodyPr>
          <a:lstStyle/>
          <a:p>
            <a:pPr>
              <a:spcAft>
                <a:spcPts val="1200"/>
              </a:spcAft>
              <a:defRPr sz="1900" b="0">
                <a:solidFill>
                  <a:srgbClr val="333333"/>
                </a:solidFill>
                <a:latin typeface="Calibri"/>
              </a:defRPr>
            </a:pPr>
            <a:r>
              <a:t>61.9% of Texas bridges score High or Critical</a:t>
            </a:r>
          </a:p>
          <a:p>
            <a:pPr>
              <a:spcAft>
                <a:spcPts val="1200"/>
              </a:spcAft>
              <a:defRPr sz="1900" b="0">
                <a:solidFill>
                  <a:srgbClr val="333333"/>
                </a:solidFill>
                <a:latin typeface="Calibri"/>
              </a:defRPr>
            </a:pPr>
            <a:r>
              <a:t>Only 1.2% are rated 'Poor' by condition alone -- the composite reveals latent risk</a:t>
            </a:r>
          </a:p>
        </p:txBody>
      </p:sp>
      <p:sp>
        <p:nvSpPr>
          <p:cNvPr id="6" name="TextBox 5"/>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Results Summary</a:t>
            </a:r>
          </a:p>
        </p:txBody>
      </p:sp>
      <p:graphicFrame>
        <p:nvGraphicFramePr>
          <p:cNvPr id="4" name="Table 3"/>
          <p:cNvGraphicFramePr>
            <a:graphicFrameLocks noGrp="1"/>
          </p:cNvGraphicFramePr>
          <p:nvPr/>
        </p:nvGraphicFramePr>
        <p:xfrm>
          <a:off x="1371600" y="1371600"/>
          <a:ext cx="9418320" cy="4114800"/>
        </p:xfrm>
        <a:graphic>
          <a:graphicData uri="http://schemas.openxmlformats.org/drawingml/2006/table">
            <a:tbl>
              <a:tblPr firstRow="1" bandRow="1">
                <a:tableStyleId>{5C22544A-7EE6-4342-B048-85BDC9FD1C3A}</a:tableStyleId>
              </a:tblPr>
              <a:tblGrid>
                <a:gridCol w="5029200"/>
                <a:gridCol w="4389120"/>
              </a:tblGrid>
              <a:tr h="457200">
                <a:tc>
                  <a:txBody>
                    <a:bodyPr/>
                    <a:lstStyle/>
                    <a:p>
                      <a:pPr>
                        <a:defRPr sz="1300" b="1">
                          <a:solidFill>
                            <a:srgbClr val="FFFFFF"/>
                          </a:solidFill>
                          <a:latin typeface="Calibri"/>
                        </a:defRPr>
                      </a:pPr>
                      <a:r>
                        <a:t>Metric</a:t>
                      </a:r>
                    </a:p>
                  </a:txBody>
                  <a:tcPr anchor="ctr">
                    <a:solidFill>
                      <a:srgbClr val="1B3A5C"/>
                    </a:solidFill>
                  </a:tcPr>
                </a:tc>
                <a:tc>
                  <a:txBody>
                    <a:bodyPr/>
                    <a:lstStyle/>
                    <a:p>
                      <a:pPr>
                        <a:defRPr sz="1300" b="1">
                          <a:solidFill>
                            <a:srgbClr val="FFFFFF"/>
                          </a:solidFill>
                          <a:latin typeface="Calibri"/>
                        </a:defRPr>
                      </a:pPr>
                      <a:r>
                        <a:t>Value</a:t>
                      </a:r>
                    </a:p>
                  </a:txBody>
                  <a:tcPr anchor="ctr">
                    <a:solidFill>
                      <a:srgbClr val="1B3A5C"/>
                    </a:solidFill>
                  </a:tcPr>
                </a:tc>
              </a:tr>
              <a:tr h="457200">
                <a:tc>
                  <a:txBody>
                    <a:bodyPr/>
                    <a:lstStyle/>
                    <a:p>
                      <a:pPr>
                        <a:defRPr sz="1300">
                          <a:solidFill>
                            <a:srgbClr val="333333"/>
                          </a:solidFill>
                          <a:latin typeface="Calibri"/>
                        </a:defRPr>
                      </a:pPr>
                      <a:r>
                        <a:t>Total bridges analysed</a:t>
                      </a:r>
                    </a:p>
                  </a:txBody>
                  <a:tcPr anchor="ctr"/>
                </a:tc>
                <a:tc>
                  <a:txBody>
                    <a:bodyPr/>
                    <a:lstStyle/>
                    <a:p>
                      <a:pPr>
                        <a:defRPr sz="1300">
                          <a:solidFill>
                            <a:srgbClr val="333333"/>
                          </a:solidFill>
                          <a:latin typeface="Calibri"/>
                        </a:defRPr>
                      </a:pPr>
                      <a:r>
                        <a:t>56,951</a:t>
                      </a:r>
                    </a:p>
                  </a:txBody>
                  <a:tcPr anchor="ctr"/>
                </a:tc>
              </a:tr>
              <a:tr h="457200">
                <a:tc>
                  <a:txBody>
                    <a:bodyPr/>
                    <a:lstStyle/>
                    <a:p>
                      <a:pPr>
                        <a:defRPr sz="1300">
                          <a:solidFill>
                            <a:srgbClr val="333333"/>
                          </a:solidFill>
                          <a:latin typeface="Calibri"/>
                        </a:defRPr>
                      </a:pPr>
                      <a:r>
                        <a:t>Mean risk score</a:t>
                      </a:r>
                    </a:p>
                  </a:txBody>
                  <a:tcPr anchor="ctr">
                    <a:solidFill>
                      <a:srgbClr val="E8EEF4"/>
                    </a:solidFill>
                  </a:tcPr>
                </a:tc>
                <a:tc>
                  <a:txBody>
                    <a:bodyPr/>
                    <a:lstStyle/>
                    <a:p>
                      <a:pPr>
                        <a:defRPr sz="1300">
                          <a:solidFill>
                            <a:srgbClr val="333333"/>
                          </a:solidFill>
                          <a:latin typeface="Calibri"/>
                        </a:defRPr>
                      </a:pPr>
                      <a:r>
                        <a:t>0.52</a:t>
                      </a:r>
                    </a:p>
                  </a:txBody>
                  <a:tcPr anchor="ctr">
                    <a:solidFill>
                      <a:srgbClr val="E8EEF4"/>
                    </a:solidFill>
                  </a:tcPr>
                </a:tc>
              </a:tr>
              <a:tr h="457200">
                <a:tc>
                  <a:txBody>
                    <a:bodyPr/>
                    <a:lstStyle/>
                    <a:p>
                      <a:pPr>
                        <a:defRPr sz="1300">
                          <a:solidFill>
                            <a:srgbClr val="333333"/>
                          </a:solidFill>
                          <a:latin typeface="Calibri"/>
                        </a:defRPr>
                      </a:pPr>
                      <a:r>
                        <a:t>Median risk score</a:t>
                      </a:r>
                    </a:p>
                  </a:txBody>
                  <a:tcPr anchor="ctr"/>
                </a:tc>
                <a:tc>
                  <a:txBody>
                    <a:bodyPr/>
                    <a:lstStyle/>
                    <a:p>
                      <a:pPr>
                        <a:defRPr sz="1300">
                          <a:solidFill>
                            <a:srgbClr val="333333"/>
                          </a:solidFill>
                          <a:latin typeface="Calibri"/>
                        </a:defRPr>
                      </a:pPr>
                      <a:r>
                        <a:t>0.55</a:t>
                      </a:r>
                    </a:p>
                  </a:txBody>
                  <a:tcPr anchor="ctr"/>
                </a:tc>
              </a:tr>
              <a:tr h="457200">
                <a:tc>
                  <a:txBody>
                    <a:bodyPr/>
                    <a:lstStyle/>
                    <a:p>
                      <a:pPr>
                        <a:defRPr sz="1300">
                          <a:solidFill>
                            <a:srgbClr val="333333"/>
                          </a:solidFill>
                          <a:latin typeface="Calibri"/>
                        </a:defRPr>
                      </a:pPr>
                      <a:r>
                        <a:t>Bridges rated Poor (min_cond &lt;= 4)</a:t>
                      </a:r>
                    </a:p>
                  </a:txBody>
                  <a:tcPr anchor="ctr">
                    <a:solidFill>
                      <a:srgbClr val="E8EEF4"/>
                    </a:solidFill>
                  </a:tcPr>
                </a:tc>
                <a:tc>
                  <a:txBody>
                    <a:bodyPr/>
                    <a:lstStyle/>
                    <a:p>
                      <a:pPr>
                        <a:defRPr sz="1300">
                          <a:solidFill>
                            <a:srgbClr val="333333"/>
                          </a:solidFill>
                          <a:latin typeface="Calibri"/>
                        </a:defRPr>
                      </a:pPr>
                      <a:r>
                        <a:t>680 (1.2%)</a:t>
                      </a:r>
                    </a:p>
                  </a:txBody>
                  <a:tcPr anchor="ctr">
                    <a:solidFill>
                      <a:srgbClr val="E8EEF4"/>
                    </a:solidFill>
                  </a:tcPr>
                </a:tc>
              </a:tr>
              <a:tr h="457200">
                <a:tc>
                  <a:txBody>
                    <a:bodyPr/>
                    <a:lstStyle/>
                    <a:p>
                      <a:pPr>
                        <a:defRPr sz="1300">
                          <a:solidFill>
                            <a:srgbClr val="333333"/>
                          </a:solidFill>
                          <a:latin typeface="Calibri"/>
                        </a:defRPr>
                      </a:pPr>
                      <a:r>
                        <a:t>Bridges exceeding 50-year design life</a:t>
                      </a:r>
                    </a:p>
                  </a:txBody>
                  <a:tcPr anchor="ctr"/>
                </a:tc>
                <a:tc>
                  <a:txBody>
                    <a:bodyPr/>
                    <a:lstStyle/>
                    <a:p>
                      <a:pPr>
                        <a:defRPr sz="1300">
                          <a:solidFill>
                            <a:srgbClr val="333333"/>
                          </a:solidFill>
                          <a:latin typeface="Calibri"/>
                        </a:defRPr>
                      </a:pPr>
                      <a:r>
                        <a:t>24,951 (43.8%)</a:t>
                      </a:r>
                    </a:p>
                  </a:txBody>
                  <a:tcPr anchor="ctr"/>
                </a:tc>
              </a:tr>
              <a:tr h="457200">
                <a:tc>
                  <a:txBody>
                    <a:bodyPr/>
                    <a:lstStyle/>
                    <a:p>
                      <a:pPr>
                        <a:defRPr sz="1300">
                          <a:solidFill>
                            <a:srgbClr val="333333"/>
                          </a:solidFill>
                          <a:latin typeface="Calibri"/>
                        </a:defRPr>
                      </a:pPr>
                      <a:r>
                        <a:t>High-traffic Poor bridges (ADT &gt; 50k)</a:t>
                      </a:r>
                    </a:p>
                  </a:txBody>
                  <a:tcPr anchor="ctr">
                    <a:solidFill>
                      <a:srgbClr val="E8EEF4"/>
                    </a:solidFill>
                  </a:tcPr>
                </a:tc>
                <a:tc>
                  <a:txBody>
                    <a:bodyPr/>
                    <a:lstStyle/>
                    <a:p>
                      <a:pPr>
                        <a:defRPr sz="1300">
                          <a:solidFill>
                            <a:srgbClr val="333333"/>
                          </a:solidFill>
                          <a:latin typeface="Calibri"/>
                        </a:defRPr>
                      </a:pPr>
                      <a:r>
                        <a:t>18</a:t>
                      </a:r>
                    </a:p>
                  </a:txBody>
                  <a:tcPr anchor="ctr">
                    <a:solidFill>
                      <a:srgbClr val="E8EEF4"/>
                    </a:solidFill>
                  </a:tcPr>
                </a:tc>
              </a:tr>
              <a:tr h="457200">
                <a:tc>
                  <a:txBody>
                    <a:bodyPr/>
                    <a:lstStyle/>
                    <a:p>
                      <a:pPr>
                        <a:defRPr sz="1300">
                          <a:solidFill>
                            <a:srgbClr val="333333"/>
                          </a:solidFill>
                          <a:latin typeface="Calibri"/>
                        </a:defRPr>
                      </a:pPr>
                      <a:r>
                        <a:t>Oldest bridge</a:t>
                      </a:r>
                    </a:p>
                  </a:txBody>
                  <a:tcPr anchor="ctr"/>
                </a:tc>
                <a:tc>
                  <a:txBody>
                    <a:bodyPr/>
                    <a:lstStyle/>
                    <a:p>
                      <a:pPr>
                        <a:defRPr sz="1300">
                          <a:solidFill>
                            <a:srgbClr val="333333"/>
                          </a:solidFill>
                          <a:latin typeface="Calibri"/>
                        </a:defRPr>
                      </a:pPr>
                      <a:r>
                        <a:t>1900 (County 217, 125 years)</a:t>
                      </a:r>
                    </a:p>
                  </a:txBody>
                  <a:tcPr anchor="ctr"/>
                </a:tc>
              </a:tr>
              <a:tr h="457200">
                <a:tc>
                  <a:txBody>
                    <a:bodyPr/>
                    <a:lstStyle/>
                    <a:p>
                      <a:pPr>
                        <a:defRPr sz="1300">
                          <a:solidFill>
                            <a:srgbClr val="333333"/>
                          </a:solidFill>
                          <a:latin typeface="Calibri"/>
                        </a:defRPr>
                      </a:pPr>
                      <a:r>
                        <a:t>Highest risk score</a:t>
                      </a:r>
                    </a:p>
                  </a:txBody>
                  <a:tcPr anchor="ctr">
                    <a:solidFill>
                      <a:srgbClr val="E8EEF4"/>
                    </a:solidFill>
                  </a:tcPr>
                </a:tc>
                <a:tc>
                  <a:txBody>
                    <a:bodyPr/>
                    <a:lstStyle/>
                    <a:p>
                      <a:pPr>
                        <a:defRPr sz="1300">
                          <a:solidFill>
                            <a:srgbClr val="333333"/>
                          </a:solidFill>
                          <a:latin typeface="Calibri"/>
                        </a:defRPr>
                      </a:pPr>
                      <a:r>
                        <a:t>0.826 (County 245, built 1962)</a:t>
                      </a:r>
                    </a:p>
                  </a:txBody>
                  <a:tcPr anchor="ctr">
                    <a:solidFill>
                      <a:srgbClr val="E8EEF4"/>
                    </a:solidFill>
                  </a:tcPr>
                </a:tc>
              </a:tr>
            </a:tbl>
          </a:graphicData>
        </a:graphic>
      </p:graphicFrame>
      <p:sp>
        <p:nvSpPr>
          <p:cNvPr id="5" name="TextBox 4"/>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Geographic Distribution of Risk</a:t>
            </a:r>
          </a:p>
        </p:txBody>
      </p:sp>
      <p:pic>
        <p:nvPicPr>
          <p:cNvPr id="4" name="Picture 3" descr="fig1_risk_map.png"/>
          <p:cNvPicPr>
            <a:picLocks noChangeAspect="1"/>
          </p:cNvPicPr>
          <p:nvPr/>
        </p:nvPicPr>
        <p:blipFill>
          <a:blip r:embed="rId2"/>
          <a:stretch>
            <a:fillRect/>
          </a:stretch>
        </p:blipFill>
        <p:spPr>
          <a:xfrm>
            <a:off x="274320" y="1143000"/>
            <a:ext cx="8686800" cy="5978852"/>
          </a:xfrm>
          <a:prstGeom prst="rect">
            <a:avLst/>
          </a:prstGeom>
        </p:spPr>
      </p:pic>
      <p:sp>
        <p:nvSpPr>
          <p:cNvPr id="5" name="TextBox 4"/>
          <p:cNvSpPr txBox="1"/>
          <p:nvPr/>
        </p:nvSpPr>
        <p:spPr>
          <a:xfrm>
            <a:off x="9235440" y="1645920"/>
            <a:ext cx="2743200" cy="4114800"/>
          </a:xfrm>
          <a:prstGeom prst="rect">
            <a:avLst/>
          </a:prstGeom>
          <a:noFill/>
        </p:spPr>
        <p:txBody>
          <a:bodyPr wrap="square">
            <a:spAutoFit/>
          </a:bodyPr>
          <a:lstStyle/>
          <a:p>
            <a:pPr>
              <a:spcAft>
                <a:spcPts val="1200"/>
              </a:spcAft>
              <a:defRPr sz="1500" b="0">
                <a:solidFill>
                  <a:srgbClr val="333333"/>
                </a:solidFill>
                <a:latin typeface="Calibri"/>
              </a:defRPr>
            </a:pPr>
            <a:r>
              <a:t>Clear east-west gradient</a:t>
            </a:r>
          </a:p>
          <a:p>
            <a:pPr>
              <a:spcAft>
                <a:spcPts val="1200"/>
              </a:spcAft>
              <a:defRPr sz="1500" b="0">
                <a:solidFill>
                  <a:srgbClr val="333333"/>
                </a:solidFill>
                <a:latin typeface="Calibri"/>
              </a:defRPr>
            </a:pPr>
            <a:r>
              <a:t>Highest risk in rural East Texas</a:t>
            </a:r>
          </a:p>
          <a:p>
            <a:pPr>
              <a:spcAft>
                <a:spcPts val="1200"/>
              </a:spcAft>
              <a:defRPr sz="1500" b="0">
                <a:solidFill>
                  <a:srgbClr val="333333"/>
                </a:solidFill>
                <a:latin typeface="Calibri"/>
              </a:defRPr>
            </a:pPr>
            <a:r>
              <a:t>Older road networks (1930s-1960s)</a:t>
            </a:r>
          </a:p>
          <a:p>
            <a:pPr>
              <a:spcAft>
                <a:spcPts val="1200"/>
              </a:spcAft>
              <a:defRPr sz="1500" b="0">
                <a:solidFill>
                  <a:srgbClr val="333333"/>
                </a:solidFill>
                <a:latin typeface="Calibri"/>
              </a:defRPr>
            </a:pPr>
            <a:r>
              <a:t>Metro areas show mixed patterns</a:t>
            </a:r>
          </a:p>
          <a:p>
            <a:pPr>
              <a:spcAft>
                <a:spcPts val="1200"/>
              </a:spcAft>
              <a:defRPr sz="1500" b="0">
                <a:solidFill>
                  <a:srgbClr val="333333"/>
                </a:solidFill>
                <a:latin typeface="Calibri"/>
              </a:defRPr>
            </a:pPr>
            <a:r>
              <a:t>Western TX: sparser, newer infrastructure</a:t>
            </a:r>
          </a:p>
        </p:txBody>
      </p:sp>
      <p:sp>
        <p:nvSpPr>
          <p:cNvPr id="6" name="TextBox 5"/>
          <p:cNvSpPr txBox="1"/>
          <p:nvPr/>
        </p:nvSpPr>
        <p:spPr>
          <a:xfrm>
            <a:off x="274320" y="6126480"/>
            <a:ext cx="8686800" cy="457200"/>
          </a:xfrm>
          <a:prstGeom prst="rect">
            <a:avLst/>
          </a:prstGeom>
          <a:noFill/>
        </p:spPr>
        <p:txBody>
          <a:bodyPr wrap="square">
            <a:spAutoFit/>
          </a:bodyPr>
          <a:lstStyle/>
          <a:p>
            <a:pPr algn="l">
              <a:defRPr sz="1100" b="0">
                <a:solidFill>
                  <a:srgbClr val="666666"/>
                </a:solidFill>
                <a:latin typeface="Calibri"/>
              </a:defRPr>
            </a:pPr>
            <a:r>
              <a:t>Figure 1. Composite risk scores for 56,951 Texas structures with metro insets.</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Key Finding: Age Does Not Predict Condition</a:t>
            </a:r>
          </a:p>
        </p:txBody>
      </p:sp>
      <p:pic>
        <p:nvPicPr>
          <p:cNvPr id="4" name="Picture 3" descr="fig2_age_condition.png"/>
          <p:cNvPicPr>
            <a:picLocks noChangeAspect="1"/>
          </p:cNvPicPr>
          <p:nvPr/>
        </p:nvPicPr>
        <p:blipFill>
          <a:blip r:embed="rId2"/>
          <a:stretch>
            <a:fillRect/>
          </a:stretch>
        </p:blipFill>
        <p:spPr>
          <a:xfrm>
            <a:off x="274320" y="1143000"/>
            <a:ext cx="7772400" cy="5491946"/>
          </a:xfrm>
          <a:prstGeom prst="rect">
            <a:avLst/>
          </a:prstGeom>
        </p:spPr>
      </p:pic>
      <p:sp>
        <p:nvSpPr>
          <p:cNvPr id="5" name="TextBox 4"/>
          <p:cNvSpPr txBox="1"/>
          <p:nvPr/>
        </p:nvSpPr>
        <p:spPr>
          <a:xfrm>
            <a:off x="8412480" y="1645920"/>
            <a:ext cx="3474720" cy="4114800"/>
          </a:xfrm>
          <a:prstGeom prst="rect">
            <a:avLst/>
          </a:prstGeom>
          <a:noFill/>
        </p:spPr>
        <p:txBody>
          <a:bodyPr wrap="square">
            <a:spAutoFit/>
          </a:bodyPr>
          <a:lstStyle/>
          <a:p>
            <a:pPr>
              <a:spcAft>
                <a:spcPts val="1200"/>
              </a:spcAft>
              <a:defRPr sz="1500" b="0">
                <a:solidFill>
                  <a:srgbClr val="333333"/>
                </a:solidFill>
                <a:latin typeface="Calibri"/>
              </a:defRPr>
            </a:pPr>
            <a:r>
              <a:t>43.8% exceed 50-year design life</a:t>
            </a:r>
          </a:p>
          <a:p>
            <a:pPr>
              <a:spcAft>
                <a:spcPts val="1200"/>
              </a:spcAft>
              <a:defRPr sz="1500" b="0">
                <a:solidFill>
                  <a:srgbClr val="333333"/>
                </a:solidFill>
                <a:latin typeface="Calibri"/>
              </a:defRPr>
            </a:pPr>
            <a:r>
              <a:t>Only 1.5% of aged bridges rate as Poor</a:t>
            </a:r>
          </a:p>
          <a:p>
            <a:pPr>
              <a:spcAft>
                <a:spcPts val="1200"/>
              </a:spcAft>
              <a:defRPr sz="1500" b="0">
                <a:solidFill>
                  <a:srgbClr val="333333"/>
                </a:solidFill>
                <a:latin typeface="Calibri"/>
              </a:defRPr>
            </a:pPr>
            <a:r>
              <a:t>Dense clustering at ratings 6-7 across all ages</a:t>
            </a:r>
          </a:p>
          <a:p>
            <a:pPr>
              <a:spcAft>
                <a:spcPts val="1200"/>
              </a:spcAft>
              <a:defRPr sz="1500" b="0">
                <a:solidFill>
                  <a:srgbClr val="333333"/>
                </a:solidFill>
                <a:latin typeface="Calibri"/>
              </a:defRPr>
            </a:pPr>
            <a:r>
              <a:t>Maintenance sustains condition -- but for how long?</a:t>
            </a:r>
          </a:p>
          <a:p>
            <a:pPr>
              <a:spcAft>
                <a:spcPts val="1200"/>
              </a:spcAft>
              <a:defRPr sz="1500" b="0">
                <a:solidFill>
                  <a:srgbClr val="333333"/>
                </a:solidFill>
                <a:latin typeface="Calibri"/>
              </a:defRPr>
            </a:pPr>
            <a:r>
              <a:t>Upper-right quadrant = latent risk zone</a:t>
            </a:r>
          </a:p>
        </p:txBody>
      </p:sp>
      <p:sp>
        <p:nvSpPr>
          <p:cNvPr id="6" name="TextBox 5"/>
          <p:cNvSpPr txBox="1"/>
          <p:nvPr/>
        </p:nvSpPr>
        <p:spPr>
          <a:xfrm>
            <a:off x="274320" y="6126480"/>
            <a:ext cx="8229600" cy="457200"/>
          </a:xfrm>
          <a:prstGeom prst="rect">
            <a:avLst/>
          </a:prstGeom>
          <a:noFill/>
        </p:spPr>
        <p:txBody>
          <a:bodyPr wrap="square">
            <a:spAutoFit/>
          </a:bodyPr>
          <a:lstStyle/>
          <a:p>
            <a:pPr algn="l">
              <a:defRPr sz="1100" b="0">
                <a:solidFill>
                  <a:srgbClr val="666666"/>
                </a:solidFill>
                <a:latin typeface="Calibri"/>
              </a:defRPr>
            </a:pPr>
            <a:r>
              <a:t>Figure 2. Bridge age vs. min condition rating. Dashed lines: FHWA Poor threshold (4) and 50-year design life.</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County-Level Risk Patterns</a:t>
            </a:r>
          </a:p>
        </p:txBody>
      </p:sp>
      <p:pic>
        <p:nvPicPr>
          <p:cNvPr id="4" name="Picture 3" descr="fig4_county_risk.png"/>
          <p:cNvPicPr>
            <a:picLocks noChangeAspect="1"/>
          </p:cNvPicPr>
          <p:nvPr/>
        </p:nvPicPr>
        <p:blipFill>
          <a:blip r:embed="rId2"/>
          <a:stretch>
            <a:fillRect/>
          </a:stretch>
        </p:blipFill>
        <p:spPr>
          <a:xfrm>
            <a:off x="274320" y="1143000"/>
            <a:ext cx="7315200" cy="5998693"/>
          </a:xfrm>
          <a:prstGeom prst="rect">
            <a:avLst/>
          </a:prstGeom>
        </p:spPr>
      </p:pic>
      <p:sp>
        <p:nvSpPr>
          <p:cNvPr id="5" name="TextBox 4"/>
          <p:cNvSpPr txBox="1"/>
          <p:nvPr/>
        </p:nvSpPr>
        <p:spPr>
          <a:xfrm>
            <a:off x="7863840" y="1645920"/>
            <a:ext cx="4023360" cy="4114800"/>
          </a:xfrm>
          <a:prstGeom prst="rect">
            <a:avLst/>
          </a:prstGeom>
          <a:noFill/>
        </p:spPr>
        <p:txBody>
          <a:bodyPr wrap="square">
            <a:spAutoFit/>
          </a:bodyPr>
          <a:lstStyle/>
          <a:p>
            <a:pPr>
              <a:spcAft>
                <a:spcPts val="1200"/>
              </a:spcAft>
              <a:defRPr sz="1500" b="0">
                <a:solidFill>
                  <a:srgbClr val="333333"/>
                </a:solidFill>
                <a:latin typeface="Calibri"/>
              </a:defRPr>
            </a:pPr>
            <a:r>
              <a:t>Top 20 counties by mean risk (min. 50 bridges)</a:t>
            </a:r>
          </a:p>
          <a:p>
            <a:pPr>
              <a:spcAft>
                <a:spcPts val="1200"/>
              </a:spcAft>
              <a:defRPr sz="1500" b="0">
                <a:solidFill>
                  <a:srgbClr val="333333"/>
                </a:solidFill>
                <a:latin typeface="Calibri"/>
              </a:defRPr>
            </a:pPr>
            <a:r>
              <a:t>All exceed the statewide mean of 0.60</a:t>
            </a:r>
          </a:p>
          <a:p>
            <a:pPr>
              <a:spcAft>
                <a:spcPts val="1200"/>
              </a:spcAft>
              <a:defRPr sz="1500" b="0">
                <a:solidFill>
                  <a:srgbClr val="333333"/>
                </a:solidFill>
                <a:latin typeface="Calibri"/>
              </a:defRPr>
            </a:pPr>
            <a:r>
              <a:t>County 235 (Irion) highest at 0.77</a:t>
            </a:r>
          </a:p>
          <a:p>
            <a:pPr>
              <a:spcAft>
                <a:spcPts val="1200"/>
              </a:spcAft>
              <a:defRPr sz="1500" b="0">
                <a:solidFill>
                  <a:srgbClr val="333333"/>
                </a:solidFill>
                <a:latin typeface="Calibri"/>
              </a:defRPr>
            </a:pPr>
            <a:r>
              <a:t>Predominantly rural counties</a:t>
            </a:r>
          </a:p>
          <a:p>
            <a:pPr>
              <a:spcAft>
                <a:spcPts val="1200"/>
              </a:spcAft>
              <a:defRPr sz="1500" b="0">
                <a:solidFill>
                  <a:srgbClr val="333333"/>
                </a:solidFill>
                <a:latin typeface="Calibri"/>
              </a:defRPr>
            </a:pPr>
            <a:r>
              <a:t>Larger counties (Harris, Tarrant) have more total risk but lower mean</a:t>
            </a:r>
          </a:p>
          <a:p>
            <a:pPr>
              <a:spcAft>
                <a:spcPts val="1200"/>
              </a:spcAft>
              <a:defRPr sz="1500" b="0">
                <a:solidFill>
                  <a:srgbClr val="333333"/>
                </a:solidFill>
                <a:latin typeface="Calibri"/>
              </a:defRPr>
            </a:pPr>
            <a:r>
              <a:t>Suggests funding disparity: rural vs urban</a:t>
            </a:r>
          </a:p>
        </p:txBody>
      </p:sp>
      <p:sp>
        <p:nvSpPr>
          <p:cNvPr id="6" name="TextBox 5"/>
          <p:cNvSpPr txBox="1"/>
          <p:nvPr/>
        </p:nvSpPr>
        <p:spPr>
          <a:xfrm>
            <a:off x="274320" y="6126480"/>
            <a:ext cx="7315200" cy="457200"/>
          </a:xfrm>
          <a:prstGeom prst="rect">
            <a:avLst/>
          </a:prstGeom>
          <a:noFill/>
        </p:spPr>
        <p:txBody>
          <a:bodyPr wrap="square">
            <a:spAutoFit/>
          </a:bodyPr>
          <a:lstStyle/>
          <a:p>
            <a:pPr algn="l">
              <a:defRPr sz="1100" b="0">
                <a:solidFill>
                  <a:srgbClr val="666666"/>
                </a:solidFill>
                <a:latin typeface="Calibri"/>
              </a:defRPr>
            </a:pPr>
            <a:r>
              <a:t>Figure 4. Top 20 counties by mean composite risk score, filtered to min. 50 bridges.</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Model Limitations</a:t>
            </a:r>
          </a:p>
        </p:txBody>
      </p:sp>
      <p:sp>
        <p:nvSpPr>
          <p:cNvPr id="4" name="TextBox 3"/>
          <p:cNvSpPr txBox="1"/>
          <p:nvPr/>
        </p:nvSpPr>
        <p:spPr>
          <a:xfrm>
            <a:off x="731520" y="1463040"/>
            <a:ext cx="10515600" cy="4114800"/>
          </a:xfrm>
          <a:prstGeom prst="rect">
            <a:avLst/>
          </a:prstGeom>
          <a:noFill/>
        </p:spPr>
        <p:txBody>
          <a:bodyPr wrap="square">
            <a:spAutoFit/>
          </a:bodyPr>
          <a:lstStyle/>
          <a:p>
            <a:pPr>
              <a:spcAft>
                <a:spcPts val="1400"/>
              </a:spcAft>
              <a:defRPr sz="1800" b="0">
                <a:solidFill>
                  <a:srgbClr val="333333"/>
                </a:solidFill>
                <a:latin typeface="Calibri"/>
              </a:defRPr>
            </a:pPr>
            <a:r>
              <a:t>Cross-sectional snapshot: no deterioration trajectory or trend analysis</a:t>
            </a:r>
          </a:p>
          <a:p>
            <a:pPr>
              <a:spcAft>
                <a:spcPts val="1400"/>
              </a:spcAft>
              <a:defRPr sz="1800" b="0">
                <a:solidFill>
                  <a:srgbClr val="333333"/>
                </a:solidFill>
                <a:latin typeface="Calibri"/>
              </a:defRPr>
            </a:pPr>
            <a:r>
              <a:t>Equal-interval tier boundaries (0.25) are arbitrary; no empirical calibration</a:t>
            </a:r>
          </a:p>
          <a:p>
            <a:pPr>
              <a:spcAft>
                <a:spcPts val="1400"/>
              </a:spcAft>
              <a:defRPr sz="1800" b="0">
                <a:solidFill>
                  <a:srgbClr val="333333"/>
                </a:solidFill>
                <a:latin typeface="Calibri"/>
              </a:defRPr>
            </a:pPr>
            <a:r>
              <a:t>Weights are expert-assigned, not empirically derived from failure data</a:t>
            </a:r>
          </a:p>
          <a:p>
            <a:pPr>
              <a:spcAft>
                <a:spcPts val="1400"/>
              </a:spcAft>
              <a:defRPr sz="1800" b="0">
                <a:solidFill>
                  <a:srgbClr val="333333"/>
                </a:solidFill>
                <a:latin typeface="Calibri"/>
              </a:defRPr>
            </a:pPr>
            <a:r>
              <a:t>NBI condition ratings are subjective: inter-inspector variability is documented</a:t>
            </a:r>
          </a:p>
          <a:p>
            <a:pPr>
              <a:spcAft>
                <a:spcPts val="1400"/>
              </a:spcAft>
              <a:defRPr sz="1800" b="0">
                <a:solidFill>
                  <a:srgbClr val="333333"/>
                </a:solidFill>
                <a:latin typeface="Calibri"/>
              </a:defRPr>
            </a:pPr>
            <a:r>
              <a:t>Traffic data (ADT) may lag actual volumes; does not capture peak-hour loading</a:t>
            </a:r>
          </a:p>
          <a:p>
            <a:pPr>
              <a:spcAft>
                <a:spcPts val="1400"/>
              </a:spcAft>
              <a:defRPr sz="1800" b="0">
                <a:solidFill>
                  <a:srgbClr val="333333"/>
                </a:solidFill>
                <a:latin typeface="Calibri"/>
              </a:defRPr>
            </a:pPr>
            <a:r>
              <a:t>No integration with maintenance expenditure or material-specific decay models</a:t>
            </a:r>
          </a:p>
          <a:p>
            <a:pPr>
              <a:spcAft>
                <a:spcPts val="1400"/>
              </a:spcAft>
              <a:defRPr sz="1800" b="0">
                <a:solidFill>
                  <a:srgbClr val="333333"/>
                </a:solidFill>
                <a:latin typeface="Calibri"/>
              </a:defRPr>
            </a:pPr>
            <a:r>
              <a:t>Geographic analysis uses county aggregation; sub-county patterns may differ</a:t>
            </a:r>
          </a:p>
        </p:txBody>
      </p:sp>
      <p:sp>
        <p:nvSpPr>
          <p:cNvPr id="5" name="TextBox 4"/>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Discussion Questions</a:t>
            </a:r>
          </a:p>
        </p:txBody>
      </p:sp>
      <p:sp>
        <p:nvSpPr>
          <p:cNvPr id="4" name="TextBox 3"/>
          <p:cNvSpPr txBox="1"/>
          <p:nvPr/>
        </p:nvSpPr>
        <p:spPr>
          <a:xfrm>
            <a:off x="731520" y="1463040"/>
            <a:ext cx="10515600" cy="4114800"/>
          </a:xfrm>
          <a:prstGeom prst="rect">
            <a:avLst/>
          </a:prstGeom>
          <a:noFill/>
        </p:spPr>
        <p:txBody>
          <a:bodyPr wrap="square">
            <a:spAutoFit/>
          </a:bodyPr>
          <a:lstStyle/>
          <a:p>
            <a:pPr>
              <a:spcAft>
                <a:spcPts val="1800"/>
              </a:spcAft>
              <a:defRPr sz="2000" b="0">
                <a:solidFill>
                  <a:srgbClr val="333333"/>
                </a:solidFill>
                <a:latin typeface="Calibri"/>
              </a:defRPr>
            </a:pPr>
            <a:r>
              <a:t>Should condition, age, or traffic receive the highest weight? Why?</a:t>
            </a:r>
          </a:p>
          <a:p>
            <a:pPr>
              <a:spcAft>
                <a:spcPts val="1800"/>
              </a:spcAft>
              <a:defRPr sz="2000" b="0">
                <a:solidFill>
                  <a:srgbClr val="333333"/>
                </a:solidFill>
                <a:latin typeface="Calibri"/>
              </a:defRPr>
            </a:pPr>
            <a:r>
              <a:t>How would you validate this model against actual bridge failures?</a:t>
            </a:r>
          </a:p>
          <a:p>
            <a:pPr>
              <a:spcAft>
                <a:spcPts val="1800"/>
              </a:spcAft>
              <a:defRPr sz="2000" b="0">
                <a:solidFill>
                  <a:srgbClr val="333333"/>
                </a:solidFill>
                <a:latin typeface="Calibri"/>
              </a:defRPr>
            </a:pPr>
            <a:r>
              <a:t>What additional data would improve the risk assessment?</a:t>
            </a:r>
          </a:p>
          <a:p>
            <a:pPr>
              <a:spcAft>
                <a:spcPts val="1800"/>
              </a:spcAft>
              <a:defRPr sz="2000" b="0">
                <a:solidFill>
                  <a:srgbClr val="333333"/>
                </a:solidFill>
                <a:latin typeface="Calibri"/>
              </a:defRPr>
            </a:pPr>
            <a:r>
              <a:t>Should rural and urban bridges be scored with the same formula?</a:t>
            </a:r>
          </a:p>
          <a:p>
            <a:pPr>
              <a:spcAft>
                <a:spcPts val="1800"/>
              </a:spcAft>
              <a:defRPr sz="2000" b="0">
                <a:solidFill>
                  <a:srgbClr val="333333"/>
                </a:solidFill>
                <a:latin typeface="Calibri"/>
              </a:defRPr>
            </a:pPr>
            <a:r>
              <a:t>How would you communicate these results to a non-technical audience?</a:t>
            </a:r>
          </a:p>
          <a:p>
            <a:pPr>
              <a:spcAft>
                <a:spcPts val="1800"/>
              </a:spcAft>
              <a:defRPr sz="2000" b="0">
                <a:solidFill>
                  <a:srgbClr val="333333"/>
                </a:solidFill>
                <a:latin typeface="Calibri"/>
              </a:defRPr>
            </a:pPr>
            <a:r>
              <a:t>What ethical considerations arise when prioritising some communities over others?</a:t>
            </a:r>
          </a:p>
        </p:txBody>
      </p:sp>
      <p:sp>
        <p:nvSpPr>
          <p:cNvPr id="5" name="TextBox 4"/>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274320"/>
            <a:ext cx="10515600" cy="822960"/>
          </a:xfrm>
          <a:prstGeom prst="rect">
            <a:avLst/>
          </a:prstGeom>
          <a:noFill/>
        </p:spPr>
        <p:txBody>
          <a:bodyPr wrap="square">
            <a:spAutoFit/>
          </a:bodyPr>
          <a:lstStyle/>
          <a:p>
            <a:pPr algn="l">
              <a:defRPr sz="3200" b="1">
                <a:solidFill>
                  <a:srgbClr val="FFFFFF"/>
                </a:solidFill>
                <a:latin typeface="Calibri"/>
              </a:defRPr>
            </a:pPr>
            <a:r>
              <a:t>Hands-On: Interactive Risk Explorer</a:t>
            </a:r>
          </a:p>
        </p:txBody>
      </p:sp>
      <p:sp>
        <p:nvSpPr>
          <p:cNvPr id="3" name="Rectangle 2"/>
          <p:cNvSpPr/>
          <p:nvPr/>
        </p:nvSpPr>
        <p:spPr>
          <a:xfrm>
            <a:off x="457200" y="1188720"/>
            <a:ext cx="11247120" cy="5029200"/>
          </a:xfrm>
          <a:prstGeom prst="rect">
            <a:avLst/>
          </a:prstGeom>
          <a:solidFill>
            <a:srgbClr val="14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4572000" cy="457200"/>
          </a:xfrm>
          <a:prstGeom prst="rect">
            <a:avLst/>
          </a:prstGeom>
          <a:noFill/>
        </p:spPr>
        <p:txBody>
          <a:bodyPr wrap="square">
            <a:spAutoFit/>
          </a:bodyPr>
          <a:lstStyle/>
          <a:p>
            <a:pPr algn="l">
              <a:defRPr sz="1800" b="1">
                <a:solidFill>
                  <a:srgbClr val="D46B08"/>
                </a:solidFill>
                <a:latin typeface="Calibri"/>
              </a:defRPr>
            </a:pPr>
            <a:r>
              <a:t>Open bridge_risk_explorer.html in your browser</a:t>
            </a:r>
          </a:p>
        </p:txBody>
      </p:sp>
      <p:sp>
        <p:nvSpPr>
          <p:cNvPr id="5" name="TextBox 4"/>
          <p:cNvSpPr txBox="1"/>
          <p:nvPr/>
        </p:nvSpPr>
        <p:spPr>
          <a:xfrm>
            <a:off x="731520" y="1828800"/>
            <a:ext cx="10515600" cy="457200"/>
          </a:xfrm>
          <a:prstGeom prst="rect">
            <a:avLst/>
          </a:prstGeom>
          <a:noFill/>
        </p:spPr>
        <p:txBody>
          <a:bodyPr wrap="square">
            <a:spAutoFit/>
          </a:bodyPr>
          <a:lstStyle/>
          <a:p>
            <a:pPr algn="l">
              <a:defRPr sz="2000" b="1">
                <a:solidFill>
                  <a:srgbClr val="FFFFFF"/>
                </a:solidFill>
                <a:latin typeface="Calibri"/>
              </a:defRPr>
            </a:pPr>
            <a:r>
              <a:t>Task 1: Default Weights</a:t>
            </a:r>
          </a:p>
        </p:txBody>
      </p:sp>
      <p:sp>
        <p:nvSpPr>
          <p:cNvPr id="6" name="TextBox 5"/>
          <p:cNvSpPr txBox="1"/>
          <p:nvPr/>
        </p:nvSpPr>
        <p:spPr>
          <a:xfrm>
            <a:off x="914400" y="2286000"/>
            <a:ext cx="10058400" cy="914400"/>
          </a:xfrm>
          <a:prstGeom prst="rect">
            <a:avLst/>
          </a:prstGeom>
          <a:noFill/>
        </p:spPr>
        <p:txBody>
          <a:bodyPr wrap="square">
            <a:spAutoFit/>
          </a:bodyPr>
          <a:lstStyle/>
          <a:p>
            <a:pPr>
              <a:spcAft>
                <a:spcPts val="600"/>
              </a:spcAft>
              <a:defRPr sz="1600" b="0">
                <a:solidFill>
                  <a:srgbClr val="B0CCE6"/>
                </a:solidFill>
                <a:latin typeface="Calibri"/>
              </a:defRPr>
            </a:pPr>
            <a:r>
              <a:t>Set weights to Condition=30, Age=30, Traffic=40 (default)</a:t>
            </a:r>
          </a:p>
          <a:p>
            <a:pPr>
              <a:spcAft>
                <a:spcPts val="600"/>
              </a:spcAft>
              <a:defRPr sz="1600" b="0">
                <a:solidFill>
                  <a:srgbClr val="B0CCE6"/>
                </a:solidFill>
                <a:latin typeface="Calibri"/>
              </a:defRPr>
            </a:pPr>
            <a:r>
              <a:t>Record: total Critical bridges, mean risk score, geographic pattern</a:t>
            </a:r>
          </a:p>
        </p:txBody>
      </p:sp>
      <p:sp>
        <p:nvSpPr>
          <p:cNvPr id="7" name="TextBox 6"/>
          <p:cNvSpPr txBox="1"/>
          <p:nvPr/>
        </p:nvSpPr>
        <p:spPr>
          <a:xfrm>
            <a:off x="731520" y="3200400"/>
            <a:ext cx="10515600" cy="457200"/>
          </a:xfrm>
          <a:prstGeom prst="rect">
            <a:avLst/>
          </a:prstGeom>
          <a:noFill/>
        </p:spPr>
        <p:txBody>
          <a:bodyPr wrap="square">
            <a:spAutoFit/>
          </a:bodyPr>
          <a:lstStyle/>
          <a:p>
            <a:pPr algn="l">
              <a:defRPr sz="2000" b="1">
                <a:solidFill>
                  <a:srgbClr val="FFFFFF"/>
                </a:solidFill>
                <a:latin typeface="Calibri"/>
              </a:defRPr>
            </a:pPr>
            <a:r>
              <a:t>Task 2: Condition-Heavy Scenario</a:t>
            </a:r>
          </a:p>
        </p:txBody>
      </p:sp>
      <p:sp>
        <p:nvSpPr>
          <p:cNvPr id="8" name="TextBox 7"/>
          <p:cNvSpPr txBox="1"/>
          <p:nvPr/>
        </p:nvSpPr>
        <p:spPr>
          <a:xfrm>
            <a:off x="914400" y="3657600"/>
            <a:ext cx="10058400" cy="914400"/>
          </a:xfrm>
          <a:prstGeom prst="rect">
            <a:avLst/>
          </a:prstGeom>
          <a:noFill/>
        </p:spPr>
        <p:txBody>
          <a:bodyPr wrap="square">
            <a:spAutoFit/>
          </a:bodyPr>
          <a:lstStyle/>
          <a:p>
            <a:pPr>
              <a:spcAft>
                <a:spcPts val="600"/>
              </a:spcAft>
              <a:defRPr sz="1600" b="0">
                <a:solidFill>
                  <a:srgbClr val="B0CCE6"/>
                </a:solidFill>
                <a:latin typeface="Calibri"/>
              </a:defRPr>
            </a:pPr>
            <a:r>
              <a:t>Set weights to Condition=80, Age=10, Traffic=10</a:t>
            </a:r>
          </a:p>
          <a:p>
            <a:pPr>
              <a:spcAft>
                <a:spcPts val="600"/>
              </a:spcAft>
              <a:defRPr sz="1600" b="0">
                <a:solidFill>
                  <a:srgbClr val="B0CCE6"/>
                </a:solidFill>
                <a:latin typeface="Calibri"/>
              </a:defRPr>
            </a:pPr>
            <a:r>
              <a:t>How does the Critical count change? Which counties move in/out of the top 20?</a:t>
            </a:r>
          </a:p>
        </p:txBody>
      </p:sp>
      <p:sp>
        <p:nvSpPr>
          <p:cNvPr id="9" name="TextBox 8"/>
          <p:cNvSpPr txBox="1"/>
          <p:nvPr/>
        </p:nvSpPr>
        <p:spPr>
          <a:xfrm>
            <a:off x="731520" y="4572000"/>
            <a:ext cx="10515600" cy="457200"/>
          </a:xfrm>
          <a:prstGeom prst="rect">
            <a:avLst/>
          </a:prstGeom>
          <a:noFill/>
        </p:spPr>
        <p:txBody>
          <a:bodyPr wrap="square">
            <a:spAutoFit/>
          </a:bodyPr>
          <a:lstStyle/>
          <a:p>
            <a:pPr algn="l">
              <a:defRPr sz="2000" b="1">
                <a:solidFill>
                  <a:srgbClr val="FFFFFF"/>
                </a:solidFill>
                <a:latin typeface="Calibri"/>
              </a:defRPr>
            </a:pPr>
            <a:r>
              <a:t>Task 3: No-Traffic Comparison</a:t>
            </a:r>
          </a:p>
        </p:txBody>
      </p:sp>
      <p:sp>
        <p:nvSpPr>
          <p:cNvPr id="10" name="TextBox 9"/>
          <p:cNvSpPr txBox="1"/>
          <p:nvPr/>
        </p:nvSpPr>
        <p:spPr>
          <a:xfrm>
            <a:off x="914400" y="5029200"/>
            <a:ext cx="10058400" cy="914400"/>
          </a:xfrm>
          <a:prstGeom prst="rect">
            <a:avLst/>
          </a:prstGeom>
          <a:noFill/>
        </p:spPr>
        <p:txBody>
          <a:bodyPr wrap="square">
            <a:spAutoFit/>
          </a:bodyPr>
          <a:lstStyle/>
          <a:p>
            <a:pPr>
              <a:spcAft>
                <a:spcPts val="600"/>
              </a:spcAft>
              <a:defRPr sz="1600" b="0">
                <a:solidFill>
                  <a:srgbClr val="B0CCE6"/>
                </a:solidFill>
                <a:latin typeface="Calibri"/>
              </a:defRPr>
            </a:pPr>
            <a:r>
              <a:t>Set Traffic slider to 0 (Condition=60, Age=40, Traffic=0)</a:t>
            </a:r>
          </a:p>
          <a:p>
            <a:pPr>
              <a:spcAft>
                <a:spcPts val="600"/>
              </a:spcAft>
              <a:defRPr sz="1600" b="0">
                <a:solidFill>
                  <a:srgbClr val="B0CCE6"/>
                </a:solidFill>
                <a:latin typeface="Calibri"/>
              </a:defRPr>
            </a:pPr>
            <a:r>
              <a:t>Compare to Task 1: do urban or rural bridges benefit more from removing traffic?</a:t>
            </a:r>
          </a:p>
        </p:txBody>
      </p:sp>
      <p:sp>
        <p:nvSpPr>
          <p:cNvPr id="11" name="TextBox 10"/>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